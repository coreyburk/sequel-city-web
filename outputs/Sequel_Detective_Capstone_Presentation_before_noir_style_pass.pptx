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6"/>
  </p:notesMasterIdLst>
  <p:sldIdLst>
    <p:sldId id="256" r:id="rId2"/>
    <p:sldId id="274" r:id="rId3"/>
    <p:sldId id="263" r:id="rId4"/>
    <p:sldId id="264" r:id="rId5"/>
    <p:sldId id="273" r:id="rId6"/>
    <p:sldId id="266" r:id="rId7"/>
    <p:sldId id="262" r:id="rId8"/>
    <p:sldId id="267" r:id="rId9"/>
    <p:sldId id="275" r:id="rId10"/>
    <p:sldId id="272" r:id="rId11"/>
    <p:sldId id="261" r:id="rId12"/>
    <p:sldId id="268" r:id="rId13"/>
    <p:sldId id="26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B2CC"/>
    <a:srgbClr val="7DE1FA"/>
    <a:srgbClr val="84B2CC"/>
    <a:srgbClr val="153D6A"/>
    <a:srgbClr val="AA521A"/>
    <a:srgbClr val="FBF18F"/>
    <a:srgbClr val="165184"/>
    <a:srgbClr val="205E30"/>
    <a:srgbClr val="0F578C"/>
    <a:srgbClr val="4250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1A1DEB-879F-48B9-BFDC-C372C569771D}" v="57" dt="2026-03-13T16:33:55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ey Burk" userId="921425c1-d3d8-462a-9df6-d507d814f0c6" providerId="ADAL" clId="{BDB24208-5EB5-4CD2-B469-43431F520CC1}"/>
    <pc:docChg chg="undo custSel addSld delSld modSld">
      <pc:chgData name="Corey Burk" userId="921425c1-d3d8-462a-9df6-d507d814f0c6" providerId="ADAL" clId="{BDB24208-5EB5-4CD2-B469-43431F520CC1}" dt="2026-03-10T23:51:48.720" v="575" actId="207"/>
      <pc:docMkLst>
        <pc:docMk/>
      </pc:docMkLst>
      <pc:sldChg chg="modNotes modNotesTx">
        <pc:chgData name="Corey Burk" userId="921425c1-d3d8-462a-9df6-d507d814f0c6" providerId="ADAL" clId="{BDB24208-5EB5-4CD2-B469-43431F520CC1}" dt="2026-03-07T01:12:27.959" v="418"/>
        <pc:sldMkLst>
          <pc:docMk/>
          <pc:sldMk cId="2156206053" sldId="256"/>
        </pc:sldMkLst>
      </pc:sldChg>
      <pc:sldChg chg="addSp modSp mod modNotes modNotesTx">
        <pc:chgData name="Corey Burk" userId="921425c1-d3d8-462a-9df6-d507d814f0c6" providerId="ADAL" clId="{BDB24208-5EB5-4CD2-B469-43431F520CC1}" dt="2026-03-07T01:12:27.959" v="418"/>
        <pc:sldMkLst>
          <pc:docMk/>
          <pc:sldMk cId="2281135487" sldId="261"/>
        </pc:sldMkLst>
        <pc:spChg chg="mod">
          <ac:chgData name="Corey Burk" userId="921425c1-d3d8-462a-9df6-d507d814f0c6" providerId="ADAL" clId="{BDB24208-5EB5-4CD2-B469-43431F520CC1}" dt="2026-03-06T22:54:09.761" v="315" actId="1036"/>
          <ac:spMkLst>
            <pc:docMk/>
            <pc:sldMk cId="2281135487" sldId="261"/>
            <ac:spMk id="11" creationId="{4B4AB5BE-A11E-418C-63A2-B9B2089A12E9}"/>
          </ac:spMkLst>
        </pc:spChg>
        <pc:spChg chg="mod">
          <ac:chgData name="Corey Burk" userId="921425c1-d3d8-462a-9df6-d507d814f0c6" providerId="ADAL" clId="{BDB24208-5EB5-4CD2-B469-43431F520CC1}" dt="2026-03-06T22:54:09.761" v="315" actId="1036"/>
          <ac:spMkLst>
            <pc:docMk/>
            <pc:sldMk cId="2281135487" sldId="261"/>
            <ac:spMk id="13" creationId="{1CE42F8E-EF12-149B-FA88-7D2364FBBD2B}"/>
          </ac:spMkLst>
        </pc:spChg>
        <pc:spChg chg="mod">
          <ac:chgData name="Corey Burk" userId="921425c1-d3d8-462a-9df6-d507d814f0c6" providerId="ADAL" clId="{BDB24208-5EB5-4CD2-B469-43431F520CC1}" dt="2026-03-06T22:53:56.050" v="298" actId="12788"/>
          <ac:spMkLst>
            <pc:docMk/>
            <pc:sldMk cId="2281135487" sldId="261"/>
            <ac:spMk id="15" creationId="{31F6998F-C06F-FAD5-70BB-F35C136BBEFC}"/>
          </ac:spMkLst>
        </pc:spChg>
        <pc:spChg chg="mod">
          <ac:chgData name="Corey Burk" userId="921425c1-d3d8-462a-9df6-d507d814f0c6" providerId="ADAL" clId="{BDB24208-5EB5-4CD2-B469-43431F520CC1}" dt="2026-03-06T22:54:02.677" v="299" actId="12788"/>
          <ac:spMkLst>
            <pc:docMk/>
            <pc:sldMk cId="2281135487" sldId="261"/>
            <ac:spMk id="20" creationId="{88BB51DE-C0F9-095C-2760-F9B8FC53B724}"/>
          </ac:spMkLst>
        </pc:spChg>
        <pc:picChg chg="add mod">
          <ac:chgData name="Corey Burk" userId="921425c1-d3d8-462a-9df6-d507d814f0c6" providerId="ADAL" clId="{BDB24208-5EB5-4CD2-B469-43431F520CC1}" dt="2026-03-06T22:56:52.211" v="329" actId="12789"/>
          <ac:picMkLst>
            <pc:docMk/>
            <pc:sldMk cId="2281135487" sldId="261"/>
            <ac:picMk id="3" creationId="{70A8FD91-A517-5764-FDD1-25F9A71A23EE}"/>
          </ac:picMkLst>
        </pc:picChg>
        <pc:picChg chg="add mod">
          <ac:chgData name="Corey Burk" userId="921425c1-d3d8-462a-9df6-d507d814f0c6" providerId="ADAL" clId="{BDB24208-5EB5-4CD2-B469-43431F520CC1}" dt="2026-03-06T22:56:52.211" v="329" actId="12789"/>
          <ac:picMkLst>
            <pc:docMk/>
            <pc:sldMk cId="2281135487" sldId="261"/>
            <ac:picMk id="5" creationId="{25011467-2AD0-E60A-341E-9FA7B377C9A8}"/>
          </ac:picMkLst>
        </pc:picChg>
      </pc:sldChg>
      <pc:sldChg chg="modNotes modNotesTx">
        <pc:chgData name="Corey Burk" userId="921425c1-d3d8-462a-9df6-d507d814f0c6" providerId="ADAL" clId="{BDB24208-5EB5-4CD2-B469-43431F520CC1}" dt="2026-03-07T01:12:27.959" v="418"/>
        <pc:sldMkLst>
          <pc:docMk/>
          <pc:sldMk cId="2526014114" sldId="262"/>
        </pc:sldMkLst>
      </pc:sldChg>
      <pc:sldChg chg="modSp mod modNotes modNotesTx">
        <pc:chgData name="Corey Burk" userId="921425c1-d3d8-462a-9df6-d507d814f0c6" providerId="ADAL" clId="{BDB24208-5EB5-4CD2-B469-43431F520CC1}" dt="2026-03-07T01:12:27.959" v="418"/>
        <pc:sldMkLst>
          <pc:docMk/>
          <pc:sldMk cId="3572542416" sldId="263"/>
        </pc:sldMkLst>
        <pc:spChg chg="mod">
          <ac:chgData name="Corey Burk" userId="921425c1-d3d8-462a-9df6-d507d814f0c6" providerId="ADAL" clId="{BDB24208-5EB5-4CD2-B469-43431F520CC1}" dt="2026-03-06T21:30:06.251" v="21" actId="20577"/>
          <ac:spMkLst>
            <pc:docMk/>
            <pc:sldMk cId="3572542416" sldId="263"/>
            <ac:spMk id="10" creationId="{50DD4FAA-252E-33FD-C97B-2FD23F296234}"/>
          </ac:spMkLst>
        </pc:spChg>
      </pc:sldChg>
      <pc:sldChg chg="modNotes modNotesTx">
        <pc:chgData name="Corey Burk" userId="921425c1-d3d8-462a-9df6-d507d814f0c6" providerId="ADAL" clId="{BDB24208-5EB5-4CD2-B469-43431F520CC1}" dt="2026-03-07T01:12:27.959" v="418"/>
        <pc:sldMkLst>
          <pc:docMk/>
          <pc:sldMk cId="2038705697" sldId="264"/>
        </pc:sldMkLst>
      </pc:sldChg>
      <pc:sldChg chg="modNotesTx">
        <pc:chgData name="Corey Burk" userId="921425c1-d3d8-462a-9df6-d507d814f0c6" providerId="ADAL" clId="{BDB24208-5EB5-4CD2-B469-43431F520CC1}" dt="2026-03-07T01:12:04.040" v="415" actId="20577"/>
        <pc:sldMkLst>
          <pc:docMk/>
          <pc:sldMk cId="4274518801" sldId="265"/>
        </pc:sldMkLst>
      </pc:sldChg>
      <pc:sldChg chg="modNotes modNotesTx">
        <pc:chgData name="Corey Burk" userId="921425c1-d3d8-462a-9df6-d507d814f0c6" providerId="ADAL" clId="{BDB24208-5EB5-4CD2-B469-43431F520CC1}" dt="2026-03-07T01:12:27.959" v="418"/>
        <pc:sldMkLst>
          <pc:docMk/>
          <pc:sldMk cId="777684411" sldId="266"/>
        </pc:sldMkLst>
      </pc:sldChg>
      <pc:sldChg chg="modNotes">
        <pc:chgData name="Corey Burk" userId="921425c1-d3d8-462a-9df6-d507d814f0c6" providerId="ADAL" clId="{BDB24208-5EB5-4CD2-B469-43431F520CC1}" dt="2026-03-07T01:12:27.959" v="418"/>
        <pc:sldMkLst>
          <pc:docMk/>
          <pc:sldMk cId="504577199" sldId="267"/>
        </pc:sldMkLst>
      </pc:sldChg>
      <pc:sldChg chg="modSp mod modNotesTx">
        <pc:chgData name="Corey Burk" userId="921425c1-d3d8-462a-9df6-d507d814f0c6" providerId="ADAL" clId="{BDB24208-5EB5-4CD2-B469-43431F520CC1}" dt="2026-03-10T23:17:50.939" v="567" actId="20577"/>
        <pc:sldMkLst>
          <pc:docMk/>
          <pc:sldMk cId="3309076265" sldId="268"/>
        </pc:sldMkLst>
        <pc:spChg chg="mod">
          <ac:chgData name="Corey Burk" userId="921425c1-d3d8-462a-9df6-d507d814f0c6" providerId="ADAL" clId="{BDB24208-5EB5-4CD2-B469-43431F520CC1}" dt="2026-03-08T01:17:01.738" v="492" actId="1076"/>
          <ac:spMkLst>
            <pc:docMk/>
            <pc:sldMk cId="3309076265" sldId="268"/>
            <ac:spMk id="3" creationId="{D913845B-E7B8-C462-4267-EC28E34BB0F1}"/>
          </ac:spMkLst>
        </pc:spChg>
        <pc:spChg chg="mod">
          <ac:chgData name="Corey Burk" userId="921425c1-d3d8-462a-9df6-d507d814f0c6" providerId="ADAL" clId="{BDB24208-5EB5-4CD2-B469-43431F520CC1}" dt="2026-03-08T01:16:55.782" v="491" actId="1076"/>
          <ac:spMkLst>
            <pc:docMk/>
            <pc:sldMk cId="3309076265" sldId="268"/>
            <ac:spMk id="7" creationId="{8D13661A-BD4A-D271-96E6-DA8B106FC960}"/>
          </ac:spMkLst>
        </pc:spChg>
        <pc:picChg chg="mod">
          <ac:chgData name="Corey Burk" userId="921425c1-d3d8-462a-9df6-d507d814f0c6" providerId="ADAL" clId="{BDB24208-5EB5-4CD2-B469-43431F520CC1}" dt="2026-03-06T22:57:43.581" v="331" actId="14100"/>
          <ac:picMkLst>
            <pc:docMk/>
            <pc:sldMk cId="3309076265" sldId="268"/>
            <ac:picMk id="9" creationId="{B9BAC50A-9B60-D81E-68CE-F9B021AFB907}"/>
          </ac:picMkLst>
        </pc:picChg>
      </pc:sldChg>
      <pc:sldChg chg="modSp mod modNotes modNotesTx">
        <pc:chgData name="Corey Burk" userId="921425c1-d3d8-462a-9df6-d507d814f0c6" providerId="ADAL" clId="{BDB24208-5EB5-4CD2-B469-43431F520CC1}" dt="2026-03-07T01:12:27.959" v="418"/>
        <pc:sldMkLst>
          <pc:docMk/>
          <pc:sldMk cId="2082433814" sldId="272"/>
        </pc:sldMkLst>
        <pc:spChg chg="mod">
          <ac:chgData name="Corey Burk" userId="921425c1-d3d8-462a-9df6-d507d814f0c6" providerId="ADAL" clId="{BDB24208-5EB5-4CD2-B469-43431F520CC1}" dt="2026-03-06T21:51:45.797" v="171" actId="1076"/>
          <ac:spMkLst>
            <pc:docMk/>
            <pc:sldMk cId="2082433814" sldId="272"/>
            <ac:spMk id="18" creationId="{166142F3-F428-A775-D7C1-1CA104457B6F}"/>
          </ac:spMkLst>
        </pc:spChg>
        <pc:spChg chg="mod">
          <ac:chgData name="Corey Burk" userId="921425c1-d3d8-462a-9df6-d507d814f0c6" providerId="ADAL" clId="{BDB24208-5EB5-4CD2-B469-43431F520CC1}" dt="2026-03-06T21:50:56.053" v="169" actId="20577"/>
          <ac:spMkLst>
            <pc:docMk/>
            <pc:sldMk cId="2082433814" sldId="272"/>
            <ac:spMk id="21" creationId="{9F9D52E4-E509-293B-09BE-8B904E70565B}"/>
          </ac:spMkLst>
        </pc:spChg>
      </pc:sldChg>
      <pc:sldChg chg="modNotes modNotesTx">
        <pc:chgData name="Corey Burk" userId="921425c1-d3d8-462a-9df6-d507d814f0c6" providerId="ADAL" clId="{BDB24208-5EB5-4CD2-B469-43431F520CC1}" dt="2026-03-07T01:12:27.959" v="418"/>
        <pc:sldMkLst>
          <pc:docMk/>
          <pc:sldMk cId="780174690" sldId="273"/>
        </pc:sldMkLst>
      </pc:sldChg>
      <pc:sldChg chg="modNotes modNotesTx">
        <pc:chgData name="Corey Burk" userId="921425c1-d3d8-462a-9df6-d507d814f0c6" providerId="ADAL" clId="{BDB24208-5EB5-4CD2-B469-43431F520CC1}" dt="2026-03-07T01:12:27.959" v="418"/>
        <pc:sldMkLst>
          <pc:docMk/>
          <pc:sldMk cId="2877539378" sldId="274"/>
        </pc:sldMkLst>
      </pc:sldChg>
      <pc:sldChg chg="addSp delSp modSp add mod modNotesTx">
        <pc:chgData name="Corey Burk" userId="921425c1-d3d8-462a-9df6-d507d814f0c6" providerId="ADAL" clId="{BDB24208-5EB5-4CD2-B469-43431F520CC1}" dt="2026-03-10T23:14:00.337" v="525" actId="20577"/>
        <pc:sldMkLst>
          <pc:docMk/>
          <pc:sldMk cId="1222866107" sldId="275"/>
        </pc:sldMkLst>
      </pc:sldChg>
      <pc:sldChg chg="modSp mod">
        <pc:chgData name="Corey Burk" userId="921425c1-d3d8-462a-9df6-d507d814f0c6" providerId="ADAL" clId="{BDB24208-5EB5-4CD2-B469-43431F520CC1}" dt="2026-03-10T23:51:48.720" v="575" actId="207"/>
        <pc:sldMkLst>
          <pc:docMk/>
          <pc:sldMk cId="2392329667" sldId="276"/>
        </pc:sldMkLst>
        <pc:spChg chg="mod">
          <ac:chgData name="Corey Burk" userId="921425c1-d3d8-462a-9df6-d507d814f0c6" providerId="ADAL" clId="{BDB24208-5EB5-4CD2-B469-43431F520CC1}" dt="2026-03-10T23:51:48.720" v="575" actId="207"/>
          <ac:spMkLst>
            <pc:docMk/>
            <pc:sldMk cId="2392329667" sldId="276"/>
            <ac:spMk id="3" creationId="{6FE57C07-AB2A-707C-B620-36B6A438A4F3}"/>
          </ac:spMkLst>
        </pc:spChg>
      </pc:sldChg>
    </pc:docChg>
  </pc:docChgLst>
  <pc:docChgLst>
    <pc:chgData name="Corey Burk" userId="921425c1-d3d8-462a-9df6-d507d814f0c6" providerId="ADAL" clId="{9AA83C57-C0F3-48CE-A6DA-1D00D7B130E4}"/>
    <pc:docChg chg="undo custSel addSld modSld sldOrd">
      <pc:chgData name="Corey Burk" userId="921425c1-d3d8-462a-9df6-d507d814f0c6" providerId="ADAL" clId="{9AA83C57-C0F3-48CE-A6DA-1D00D7B130E4}" dt="2026-03-13T16:33:55.793" v="1295" actId="20577"/>
      <pc:docMkLst>
        <pc:docMk/>
      </pc:docMkLst>
      <pc:sldChg chg="modNotesTx">
        <pc:chgData name="Corey Burk" userId="921425c1-d3d8-462a-9df6-d507d814f0c6" providerId="ADAL" clId="{9AA83C57-C0F3-48CE-A6DA-1D00D7B130E4}" dt="2026-03-10T19:00:00.413" v="565" actId="113"/>
        <pc:sldMkLst>
          <pc:docMk/>
          <pc:sldMk cId="2156206053" sldId="256"/>
        </pc:sldMkLst>
      </pc:sldChg>
      <pc:sldChg chg="modNotesTx">
        <pc:chgData name="Corey Burk" userId="921425c1-d3d8-462a-9df6-d507d814f0c6" providerId="ADAL" clId="{9AA83C57-C0F3-48CE-A6DA-1D00D7B130E4}" dt="2026-03-13T16:33:16.769" v="1268" actId="20577"/>
        <pc:sldMkLst>
          <pc:docMk/>
          <pc:sldMk cId="2281135487" sldId="261"/>
        </pc:sldMkLst>
      </pc:sldChg>
      <pc:sldChg chg="modNotesTx">
        <pc:chgData name="Corey Burk" userId="921425c1-d3d8-462a-9df6-d507d814f0c6" providerId="ADAL" clId="{9AA83C57-C0F3-48CE-A6DA-1D00D7B130E4}" dt="2026-03-10T19:28:18.894" v="1123" actId="6549"/>
        <pc:sldMkLst>
          <pc:docMk/>
          <pc:sldMk cId="2526014114" sldId="262"/>
        </pc:sldMkLst>
      </pc:sldChg>
      <pc:sldChg chg="modNotesTx">
        <pc:chgData name="Corey Burk" userId="921425c1-d3d8-462a-9df6-d507d814f0c6" providerId="ADAL" clId="{9AA83C57-C0F3-48CE-A6DA-1D00D7B130E4}" dt="2026-03-10T19:11:22.742" v="725" actId="113"/>
        <pc:sldMkLst>
          <pc:docMk/>
          <pc:sldMk cId="3572542416" sldId="263"/>
        </pc:sldMkLst>
      </pc:sldChg>
      <pc:sldChg chg="modNotesTx">
        <pc:chgData name="Corey Burk" userId="921425c1-d3d8-462a-9df6-d507d814f0c6" providerId="ADAL" clId="{9AA83C57-C0F3-48CE-A6DA-1D00D7B130E4}" dt="2026-03-10T19:28:41.126" v="1162" actId="20577"/>
        <pc:sldMkLst>
          <pc:docMk/>
          <pc:sldMk cId="2038705697" sldId="264"/>
        </pc:sldMkLst>
      </pc:sldChg>
      <pc:sldChg chg="modNotesTx">
        <pc:chgData name="Corey Burk" userId="921425c1-d3d8-462a-9df6-d507d814f0c6" providerId="ADAL" clId="{9AA83C57-C0F3-48CE-A6DA-1D00D7B130E4}" dt="2026-03-13T16:33:28.714" v="1272" actId="20577"/>
        <pc:sldMkLst>
          <pc:docMk/>
          <pc:sldMk cId="4274518801" sldId="265"/>
        </pc:sldMkLst>
      </pc:sldChg>
      <pc:sldChg chg="modNotesTx">
        <pc:chgData name="Corey Burk" userId="921425c1-d3d8-462a-9df6-d507d814f0c6" providerId="ADAL" clId="{9AA83C57-C0F3-48CE-A6DA-1D00D7B130E4}" dt="2026-03-10T19:28:25.374" v="1136" actId="20577"/>
        <pc:sldMkLst>
          <pc:docMk/>
          <pc:sldMk cId="777684411" sldId="266"/>
        </pc:sldMkLst>
      </pc:sldChg>
      <pc:sldChg chg="modNotesTx">
        <pc:chgData name="Corey Burk" userId="921425c1-d3d8-462a-9df6-d507d814f0c6" providerId="ADAL" clId="{9AA83C57-C0F3-48CE-A6DA-1D00D7B130E4}" dt="2026-03-13T16:32:57.056" v="1263" actId="20577"/>
        <pc:sldMkLst>
          <pc:docMk/>
          <pc:sldMk cId="504577199" sldId="267"/>
        </pc:sldMkLst>
      </pc:sldChg>
      <pc:sldChg chg="modNotesTx">
        <pc:chgData name="Corey Burk" userId="921425c1-d3d8-462a-9df6-d507d814f0c6" providerId="ADAL" clId="{9AA83C57-C0F3-48CE-A6DA-1D00D7B130E4}" dt="2026-03-13T16:33:23.059" v="1270" actId="20577"/>
        <pc:sldMkLst>
          <pc:docMk/>
          <pc:sldMk cId="3309076265" sldId="268"/>
        </pc:sldMkLst>
      </pc:sldChg>
      <pc:sldChg chg="ord modNotesTx">
        <pc:chgData name="Corey Burk" userId="921425c1-d3d8-462a-9df6-d507d814f0c6" providerId="ADAL" clId="{9AA83C57-C0F3-48CE-A6DA-1D00D7B130E4}" dt="2026-03-13T16:33:10.468" v="1266" actId="20577"/>
        <pc:sldMkLst>
          <pc:docMk/>
          <pc:sldMk cId="2082433814" sldId="272"/>
        </pc:sldMkLst>
      </pc:sldChg>
      <pc:sldChg chg="modSp mod modNotesTx">
        <pc:chgData name="Corey Burk" userId="921425c1-d3d8-462a-9df6-d507d814f0c6" providerId="ADAL" clId="{9AA83C57-C0F3-48CE-A6DA-1D00D7B130E4}" dt="2026-03-13T16:31:45.949" v="1261" actId="20577"/>
        <pc:sldMkLst>
          <pc:docMk/>
          <pc:sldMk cId="780174690" sldId="273"/>
        </pc:sldMkLst>
        <pc:spChg chg="mod">
          <ac:chgData name="Corey Burk" userId="921425c1-d3d8-462a-9df6-d507d814f0c6" providerId="ADAL" clId="{9AA83C57-C0F3-48CE-A6DA-1D00D7B130E4}" dt="2026-03-13T16:31:45.949" v="1261" actId="20577"/>
          <ac:spMkLst>
            <pc:docMk/>
            <pc:sldMk cId="780174690" sldId="273"/>
            <ac:spMk id="26" creationId="{34585022-12A5-01C2-BD80-2936A434BAB2}"/>
          </ac:spMkLst>
        </pc:spChg>
        <pc:spChg chg="mod">
          <ac:chgData name="Corey Burk" userId="921425c1-d3d8-462a-9df6-d507d814f0c6" providerId="ADAL" clId="{9AA83C57-C0F3-48CE-A6DA-1D00D7B130E4}" dt="2026-03-10T19:13:34.932" v="763" actId="20577"/>
          <ac:spMkLst>
            <pc:docMk/>
            <pc:sldMk cId="780174690" sldId="273"/>
            <ac:spMk id="31" creationId="{DDEA4140-6F38-7C05-6A2C-767D8F8F5C7A}"/>
          </ac:spMkLst>
        </pc:spChg>
      </pc:sldChg>
      <pc:sldChg chg="modNotesTx">
        <pc:chgData name="Corey Burk" userId="921425c1-d3d8-462a-9df6-d507d814f0c6" providerId="ADAL" clId="{9AA83C57-C0F3-48CE-A6DA-1D00D7B130E4}" dt="2026-03-10T19:03:48.472" v="712" actId="113"/>
        <pc:sldMkLst>
          <pc:docMk/>
          <pc:sldMk cId="2877539378" sldId="274"/>
        </pc:sldMkLst>
      </pc:sldChg>
      <pc:sldChg chg="modNotesTx">
        <pc:chgData name="Corey Burk" userId="921425c1-d3d8-462a-9df6-d507d814f0c6" providerId="ADAL" clId="{9AA83C57-C0F3-48CE-A6DA-1D00D7B130E4}" dt="2026-03-10T19:28:05.780" v="1097" actId="6549"/>
        <pc:sldMkLst>
          <pc:docMk/>
          <pc:sldMk cId="1222866107" sldId="275"/>
        </pc:sldMkLst>
      </pc:sldChg>
      <pc:sldChg chg="addSp modSp add mod ord modNotesTx">
        <pc:chgData name="Corey Burk" userId="921425c1-d3d8-462a-9df6-d507d814f0c6" providerId="ADAL" clId="{9AA83C57-C0F3-48CE-A6DA-1D00D7B130E4}" dt="2026-03-13T16:33:55.793" v="1295" actId="20577"/>
        <pc:sldMkLst>
          <pc:docMk/>
          <pc:sldMk cId="2392329667" sldId="276"/>
        </pc:sldMkLst>
        <pc:spChg chg="add mod">
          <ac:chgData name="Corey Burk" userId="921425c1-d3d8-462a-9df6-d507d814f0c6" providerId="ADAL" clId="{9AA83C57-C0F3-48CE-A6DA-1D00D7B130E4}" dt="2026-03-10T19:30:42.669" v="1183" actId="207"/>
          <ac:spMkLst>
            <pc:docMk/>
            <pc:sldMk cId="2392329667" sldId="276"/>
            <ac:spMk id="3" creationId="{6FE57C07-AB2A-707C-B620-36B6A438A4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9EB1B-C2FC-4641-BE57-39B91EE098A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8CC045-05E7-4235-A65B-E248C268D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563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1</a:t>
            </a:r>
            <a:endParaRPr lang="en-US"/>
          </a:p>
          <a:p>
            <a:r>
              <a:rPr lang="en-US" b="1"/>
              <a:t>Good evening. My name is Corey Burk.</a:t>
            </a:r>
            <a:endParaRPr lang="en-US"/>
          </a:p>
          <a:p>
            <a:r>
              <a:rPr lang="en-US" b="1"/>
              <a:t>My Capstone project is Sequel Detective.</a:t>
            </a:r>
            <a:endParaRPr lang="en-US"/>
          </a:p>
          <a:p>
            <a:r>
              <a:rPr lang="en-US" b="1"/>
              <a:t>It is a local browser-based SQL learning platform where students investigate a case by reading schema, writing safe SQL, interpreting evidence, and verifying conclusions through the database.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8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0A215-A1B4-EE36-EEE7-1336F6F85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589D0-75D6-1A5D-C0EE-8EED9A1A9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BE377-EE00-6EF3-52BC-08D117D45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2</a:t>
            </a:r>
            <a:endParaRPr lang="en-US"/>
          </a:p>
          <a:p>
            <a:r>
              <a:rPr lang="en-US" b="1"/>
              <a:t>The problem is that SQL is often taught as isolated syntax practice.</a:t>
            </a:r>
            <a:endParaRPr lang="en-US"/>
          </a:p>
          <a:p>
            <a:r>
              <a:rPr lang="en-US" b="1"/>
              <a:t>That can help students memorize commands, but it does not always teach them how to use data to answer a question.</a:t>
            </a:r>
            <a:endParaRPr lang="en-US"/>
          </a:p>
          <a:p>
            <a:r>
              <a:rPr lang="en-US" b="1"/>
              <a:t>Sequel Detective reframes SQL practice as an investigation. Students are not just trying to write a query. They are trying to prove what happened using data.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AAC63-B1B2-B0E2-C8E1-511E54E92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92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3</a:t>
            </a:r>
            <a:endParaRPr lang="en-US"/>
          </a:p>
          <a:p>
            <a:r>
              <a:rPr lang="en-US" b="1"/>
              <a:t>The core learning model is deterministic.</a:t>
            </a:r>
            <a:endParaRPr lang="en-US"/>
          </a:p>
          <a:p>
            <a:r>
              <a:rPr lang="en-US" b="1"/>
              <a:t>The backend validates every query before it runs. The database supplies the evidence. The frontend guides attention, but the student still owns the conclusion.</a:t>
            </a:r>
            <a:endParaRPr lang="en-US"/>
          </a:p>
          <a:p>
            <a:r>
              <a:rPr lang="en-US" b="1"/>
              <a:t>This is intentionally different from an AI answer generator. The system does not give students the final query or decide correctness with a language model.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12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4</a:t>
            </a:r>
            <a:endParaRPr lang="en-US"/>
          </a:p>
          <a:p>
            <a:r>
              <a:rPr lang="en-US" b="1"/>
              <a:t>The student enters through a case library and opens Case 004, The SQL City Murder.</a:t>
            </a:r>
            <a:endParaRPr lang="en-US"/>
          </a:p>
          <a:p>
            <a:r>
              <a:rPr lang="en-US" b="1"/>
              <a:t>From there, they move through the briefing, the Query Lab, the Evidence Board, and suspect theory checks.</a:t>
            </a:r>
            <a:endParaRPr lang="en-US"/>
          </a:p>
          <a:p>
            <a:r>
              <a:rPr lang="en-US" b="1"/>
              <a:t>The experience is designed to feel like an investigation rather than a plain worksheet.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31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9A389-5C9E-FE2E-FA43-E03C820D5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44F4D-26CD-04B7-8264-EE947F808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DA2907-07B4-0EEC-8E93-148CED0BA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5 - Architecture</a:t>
            </a:r>
          </a:p>
          <a:p>
            <a:r>
              <a:rPr lang="en-US" b="1"/>
              <a:t>The web implementation is a local deterministic runtime, not an AI pipeline.</a:t>
            </a:r>
          </a:p>
          <a:p>
            <a:r>
              <a:rPr lang="en-US" b="1"/>
              <a:t>The browser presents the learning experience, the Fastify backend owns safety and verification, and SQL Server remains the evidence authority.</a:t>
            </a:r>
          </a:p>
          <a:p>
            <a:r>
              <a:rPr lang="en-US" b="1"/>
              <a:t>This is the key difference from treating the system as a model-driven tutor: correctness stays in deterministic services and database-backed results.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D2E66-6401-46B5-8A5B-7EC564918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96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6</a:t>
            </a:r>
            <a:endParaRPr lang="en-US"/>
          </a:p>
          <a:p>
            <a:r>
              <a:rPr lang="en-US" b="1"/>
              <a:t>The main design principle is that the backend is authoritative.</a:t>
            </a:r>
            <a:endParaRPr lang="en-US"/>
          </a:p>
          <a:p>
            <a:r>
              <a:rPr lang="en-US" b="1"/>
              <a:t>The frontend can display results and guidance, but it cannot decide whether a query is safe, whether a suspect is correct, or whether the database should change.</a:t>
            </a:r>
            <a:endParaRPr lang="en-US"/>
          </a:p>
          <a:p>
            <a:r>
              <a:rPr lang="en-US" b="1"/>
              <a:t>This keeps the learning loop fair and repeatable.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78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7 - Learning Loop</a:t>
            </a:r>
          </a:p>
          <a:p>
            <a:r>
              <a:rPr lang="en-US" b="1"/>
              <a:t>The learning loop is not AI-driven. It is evidence-driven.</a:t>
            </a:r>
          </a:p>
          <a:p>
            <a:r>
              <a:rPr lang="en-US" b="1"/>
              <a:t>The student starts from case context, inspects schema, writes a SELECT query, receives deterministic backend feedback, interprets rows, and tests a theory through database-backed verification.</a:t>
            </a:r>
          </a:p>
          <a:p>
            <a:r>
              <a:rPr lang="en-US" b="1"/>
              <a:t>Blocked queries are part of the lesson because they teach the safety boundary without damaging the database.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30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8</a:t>
            </a:r>
            <a:endParaRPr lang="en-US"/>
          </a:p>
          <a:p>
            <a:r>
              <a:rPr lang="en-US" b="1"/>
              <a:t>At this point I will switch into the live demonstration.</a:t>
            </a:r>
            <a:endParaRPr lang="en-US"/>
          </a:p>
          <a:p>
            <a:r>
              <a:rPr lang="en-US" b="1"/>
              <a:t>The route starts at the case library, opens Case 004, runs the core evidence queries, confirms Jeremy Bowers, and continues into the mastermind path if time allows.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43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85040-5C8F-5511-0673-0BFB201F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1DA72-B461-9FE2-A8B7-648D1C7A7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B6087-74E5-A404-BFB8-CF51FD7C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9</a:t>
            </a:r>
            <a:endParaRPr lang="en-US"/>
          </a:p>
          <a:p>
            <a:r>
              <a:rPr lang="en-US" b="1"/>
              <a:t>This slide can stay on screen while the live app loads or while transitioning back from the demo.</a:t>
            </a:r>
            <a:endParaRPr lang="en-US"/>
          </a:p>
          <a:p>
            <a:r>
              <a:rPr lang="en-US" b="1"/>
              <a:t>If the local runtime fails, I can use captured screenshots or clips and keep the explanation focused on the documented demo route.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65438-3673-895E-FA46-2F3B15373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939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06DEF-312F-8A6A-482A-DE13A52F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C8B7F-B860-2FD1-8C2F-C421F47CCB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394BC-B392-D875-3A8B-9BA3AC352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10</a:t>
            </a:r>
            <a:endParaRPr lang="en-US"/>
          </a:p>
          <a:p>
            <a:r>
              <a:rPr lang="en-US" b="1"/>
              <a:t>An important part of this project was the development process.</a:t>
            </a:r>
            <a:endParaRPr lang="en-US"/>
          </a:p>
          <a:p>
            <a:r>
              <a:rPr lang="en-US" b="1"/>
              <a:t>I used multiple AI tools as engineering assistants, but the workflow stayed human-governed and SSOT-driven.</a:t>
            </a:r>
            <a:endParaRPr lang="en-US"/>
          </a:p>
          <a:p>
            <a:r>
              <a:rPr lang="en-US" b="1"/>
              <a:t>The tools helped with architecture reasoning, scoped implementation, repository audit, mechanical edits, and artifact creation.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B143F-AEB1-E29B-37A8-2839258DE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77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11 - Challenges</a:t>
            </a:r>
          </a:p>
          <a:p>
            <a:r>
              <a:rPr lang="en-US" b="1"/>
              <a:t>The project challenges were both educational and technical.</a:t>
            </a:r>
          </a:p>
          <a:p>
            <a:r>
              <a:rPr lang="en-US" b="1"/>
              <a:t>On the learning side, the work was turning a static database mystery into a guided investigation without taking agency away from the student.</a:t>
            </a:r>
          </a:p>
          <a:p>
            <a:r>
              <a:rPr lang="en-US" b="1"/>
              <a:t>On the engineering side, the challenge was keeping correctness in the backend, enforcing safe SQL, and making the local runtime reliable enough for a live presentation.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766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514D-31C3-B6BC-7564-572D6DA6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08BD8-26C7-0C8A-CC4F-F4FFD7ED0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47A0F-6D10-31D9-A162-E0891DCAE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12</a:t>
            </a:r>
            <a:endParaRPr lang="en-US"/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next steps are not to change the core authority model.</a:t>
            </a:r>
            <a:endParaRPr lang="en-US"/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are to expand cases, add persistence for notebook and case state, prepare instructor analytics, harden the student package, and eventually consider optional advisory AI that cannot decide correctness.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D080F-D363-DDF8-FF14-D4D6E0E3A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15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13</a:t>
            </a:r>
            <a:endParaRPr lang="en-US"/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Sequel Detective: a local, deterministic SQL learning experience built around evidence-based reasoning.</a:t>
            </a:r>
            <a:endParaRPr lang="en-US"/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am happy to take questions.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70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C209-BD30-7457-9055-B89C9E0A9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23D80-91A3-D7CE-01B0-80D78D760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54243-4012-D050-9E84-3CE0A3807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14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statistics reflect the current repository state used for this presentation.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web build, API build, web tests, and API tests were run while preparing the deck and passed.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0900B-0A0A-393A-F585-09077FFF9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8CC045-05E7-4235-A65B-E248C268D3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05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73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63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0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7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769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28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5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8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9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23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22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  <a:latin typeface="Aptos Display" panose="020B0004020202020204" pitchFamily="34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  <a:latin typeface="Aptos Display" panose="020B00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00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37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  <a:latin typeface="Aptos Display" panose="020B0004020202020204" pitchFamily="34" charset="0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  <a:latin typeface="Aptos Display" panose="020B00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6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239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515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28614-24FE-487B-83DC-19B16880904D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A7D4F-9AD2-4A25-8CD3-78B937892E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0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ptos Display" panose="020B0004020202020204" pitchFamily="34" charset="0"/>
              </a:defRPr>
            </a:lvl1pPr>
          </a:lstStyle>
          <a:p>
            <a:fld id="{ADE28614-24FE-487B-83DC-19B16880904D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ptos Display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Aptos Display" panose="020B0004020202020204" pitchFamily="34" charset="0"/>
              </a:defRPr>
            </a:lvl1pPr>
          </a:lstStyle>
          <a:p>
            <a:fld id="{D7BA7D4F-9AD2-4A25-8CD3-78B937892E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97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Aptos Display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Aptos Display" panose="020B0004020202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Aptos Display" panose="020B0004020202020204" pitchFamily="34" charset="0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Aptos Display" panose="020B0004020202020204" pitchFamily="34" charset="0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Aptos Display" panose="020B0004020202020204" pitchFamily="34" charset="0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Aptos Display" panose="020B0004020202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09C04-6156-2961-8397-0120B5F0F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891" y="598071"/>
            <a:ext cx="4383472" cy="3240152"/>
          </a:xfrm>
          <a:effectLst>
            <a:outerShdw blurRad="50800" dist="76200" dir="5400000" algn="ctr" rotWithShape="0">
              <a:schemeClr val="bg1">
                <a:lumMod val="95000"/>
                <a:lumOff val="5000"/>
              </a:schemeClr>
            </a:outerShdw>
          </a:effectLst>
        </p:spPr>
        <p:txBody>
          <a:bodyPr anchor="ctr">
            <a:normAutofit/>
          </a:bodyPr>
          <a:lstStyle/>
          <a:p>
            <a:r>
              <a:rPr lang="en-US" sz="5600" b="1" dirty="0">
                <a:solidFill>
                  <a:schemeClr val="tx1">
                    <a:lumMod val="95000"/>
                  </a:schemeClr>
                </a:solidFill>
              </a:rPr>
              <a:t>Sequel</a:t>
            </a:r>
            <a:endParaRPr lang="en-US" dirty="0"/>
          </a:p>
          <a:p>
            <a:r>
              <a:rPr lang="en-US" sz="5600" b="1" dirty="0">
                <a:solidFill>
                  <a:schemeClr val="tx1">
                    <a:lumMod val="95000"/>
                  </a:schemeClr>
                </a:solidFill>
              </a:rPr>
              <a:t>Detective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8B562-F9D8-FC77-7E7E-B01EE60087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92" y="4639853"/>
            <a:ext cx="4383471" cy="1125629"/>
          </a:xfrm>
          <a:effectLst>
            <a:outerShdw blurRad="50800" dist="50800" dir="5400000" algn="ctr" rotWithShape="0">
              <a:srgbClr val="01060F"/>
            </a:outerShdw>
          </a:effectLst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Local browser SQL investigation</a:t>
            </a:r>
            <a:endParaRPr lang="en-US" dirty="0"/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Corey Burk</a:t>
            </a:r>
            <a:endParaRPr lang="en-US" dirty="0"/>
          </a:p>
          <a:p>
            <a:r>
              <a:rPr lang="en-US" sz="1800" dirty="0">
                <a:solidFill>
                  <a:schemeClr val="tx1">
                    <a:lumMod val="95000"/>
                  </a:schemeClr>
                </a:solidFill>
              </a:rPr>
              <a:t>Capstone Project - 7/16/2026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A3FC69-858D-0A50-258C-7B2DBFED9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975" y="917338"/>
            <a:ext cx="6838950" cy="47024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CB8A2D-1CE5-2378-4B6D-680E3CAFE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691" y="5860732"/>
            <a:ext cx="2769875" cy="692469"/>
          </a:xfrm>
          <a:prstGeom prst="rect">
            <a:avLst/>
          </a:prstGeom>
          <a:effectLst>
            <a:outerShdw dist="12700" dir="2700000" algn="tl" rotWithShape="0">
              <a:schemeClr val="tx1">
                <a:lumMod val="95000"/>
                <a:alpha val="4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206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2B9E5-AC5D-7DB8-E2B9-EC3AADB76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B72226-88A2-216C-DD4E-ECC22CFE9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53" y="396592"/>
            <a:ext cx="11058494" cy="48580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E34144-F7D6-B12A-52ED-0E3120BD33F6}"/>
              </a:ext>
            </a:extLst>
          </p:cNvPr>
          <p:cNvSpPr txBox="1"/>
          <p:nvPr/>
        </p:nvSpPr>
        <p:spPr>
          <a:xfrm>
            <a:off x="1032163" y="4404375"/>
            <a:ext cx="3934691" cy="830997"/>
          </a:xfrm>
          <a:prstGeom prst="rect">
            <a:avLst/>
          </a:prstGeom>
          <a:solidFill>
            <a:srgbClr val="7DE1FA"/>
          </a:solidFill>
          <a:ln w="38100">
            <a:solidFill>
              <a:srgbClr val="153D6A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Worksheet-style SQL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Little investigative context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F3B3F6-E23C-92F9-39CB-DCD3A3168D49}"/>
              </a:ext>
            </a:extLst>
          </p:cNvPr>
          <p:cNvSpPr txBox="1"/>
          <p:nvPr/>
        </p:nvSpPr>
        <p:spPr>
          <a:xfrm>
            <a:off x="6882246" y="4404374"/>
            <a:ext cx="3934691" cy="830997"/>
          </a:xfrm>
          <a:prstGeom prst="rect">
            <a:avLst/>
          </a:prstGeom>
          <a:solidFill>
            <a:srgbClr val="FBF18F"/>
          </a:solidFill>
          <a:ln w="38100">
            <a:solidFill>
              <a:srgbClr val="AA521A"/>
            </a:solidFill>
          </a:ln>
        </p:spPr>
        <p:txBody>
          <a:bodyPr wrap="square">
            <a:spAutoFit/>
          </a:bodyPr>
          <a:lstStyle/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Case-driven inquiry</a:t>
            </a:r>
            <a:endParaRPr lang="en-US" dirty="0"/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ptos Display" panose="020B0004020202020204" pitchFamily="34" charset="0"/>
              </a:rPr>
              <a:t>Evidence-backed reasoning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C3CA2D-29BA-C75E-33C7-4386F3B8E1C3}"/>
              </a:ext>
            </a:extLst>
          </p:cNvPr>
          <p:cNvSpPr txBox="1"/>
          <p:nvPr/>
        </p:nvSpPr>
        <p:spPr>
          <a:xfrm>
            <a:off x="1032163" y="5328588"/>
            <a:ext cx="97847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The question shifts from </a:t>
            </a:r>
          </a:p>
          <a:p>
            <a:pPr lvl="0" algn="ctr">
              <a:lnSpc>
                <a:spcPct val="100000"/>
              </a:lnSpc>
            </a:pPr>
            <a:r>
              <a:rPr 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"What query fits?" to </a:t>
            </a:r>
          </a:p>
          <a:p>
            <a:pPr lvl="0" algn="ctr">
              <a:lnSpc>
                <a:spcPct val="100000"/>
              </a:lnSpc>
            </a:pPr>
            <a:r>
              <a:rPr lang="en-US" sz="28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"What does the data prove?"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53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01497-F15B-48EA-9683-53C40BD1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5" y="525780"/>
            <a:ext cx="5122606" cy="7429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cap="none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  <a:latin typeface="Aptos Display" panose="020B0004020202020204" pitchFamily="34" charset="0"/>
              </a:rPr>
              <a:t>The Learning Core Is Deterministic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E57EC-709B-73D5-A115-E7BFC70D7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645384"/>
            <a:ext cx="5451627" cy="5247191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DD4FAA-252E-33FD-C97B-2FD23F296234}"/>
              </a:ext>
            </a:extLst>
          </p:cNvPr>
          <p:cNvSpPr txBox="1"/>
          <p:nvPr/>
        </p:nvSpPr>
        <p:spPr>
          <a:xfrm>
            <a:off x="6598228" y="1513876"/>
            <a:ext cx="5026226" cy="3863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1200"/>
              </a:spcAft>
              <a:buNone/>
            </a:pPr>
            <a:r>
              <a:rPr lang="en-US" sz="3600" b="1" kern="100" dirty="0">
                <a:solidFill>
                  <a:srgbClr val="84B2CC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Pedagogical Core</a:t>
            </a:r>
            <a:endParaRPr lang="en-US" dirty="0"/>
          </a:p>
          <a:p>
            <a:pPr marL="0" marR="0">
              <a:lnSpc>
                <a:spcPct val="107000"/>
              </a:lnSpc>
              <a:spcAft>
                <a:spcPts val="1200"/>
              </a:spcAft>
              <a:buNone/>
            </a:pPr>
            <a:endParaRPr lang="en-US" dirty="0"/>
          </a:p>
          <a:p>
            <a:pPr marL="457200" marR="0" indent="-4572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solidFill>
                  <a:srgbClr val="84B2CC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Backend validates every query</a:t>
            </a:r>
            <a:endParaRPr lang="en-US" sz="1200" dirty="0"/>
          </a:p>
          <a:p>
            <a:pPr marL="457200" marR="0" indent="-4572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solidFill>
                  <a:srgbClr val="84B2CC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Database supplies evidence</a:t>
            </a:r>
            <a:endParaRPr lang="en-US" sz="1200" dirty="0"/>
          </a:p>
          <a:p>
            <a:pPr marL="457200" marR="0" indent="-4572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solidFill>
                  <a:srgbClr val="84B2CC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Frontend guides attention</a:t>
            </a:r>
            <a:endParaRPr lang="en-US" sz="1200" dirty="0"/>
          </a:p>
          <a:p>
            <a:pPr marL="457200" marR="0" indent="-4572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solidFill>
                  <a:srgbClr val="84B2CC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Students own conclusions</a:t>
            </a:r>
            <a:endParaRPr lang="en-US" sz="1200" dirty="0"/>
          </a:p>
          <a:p>
            <a:pPr marL="457200" marR="0" indent="-457200">
              <a:lnSpc>
                <a:spcPct val="107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kern="100" dirty="0">
                <a:solidFill>
                  <a:srgbClr val="84B2CC"/>
                </a:solidFill>
                <a:effectLst/>
                <a:latin typeface="Aptos Display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model-generated answers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42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01AAD-7143-1847-B50F-29C894E9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73" y="766037"/>
            <a:ext cx="5479927" cy="103418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000" b="1" cap="none" dirty="0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  <a:latin typeface="Aptos Display" panose="020B0004020202020204" pitchFamily="34" charset="0"/>
              </a:rPr>
              <a:t>The Student Plays </a:t>
            </a:r>
            <a:br>
              <a:rPr lang="en-US" sz="4000" b="1" cap="none" dirty="0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  <a:latin typeface="Aptos Display" panose="020B0004020202020204" pitchFamily="34" charset="0"/>
              </a:rPr>
            </a:br>
            <a:r>
              <a:rPr lang="en-US" sz="4000" b="1" cap="none" dirty="0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  <a:latin typeface="Aptos Display" panose="020B0004020202020204" pitchFamily="34" charset="0"/>
              </a:rPr>
              <a:t>The Investigation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76ADD-9F33-212A-1B7E-6E029A874E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95996" y="1219200"/>
            <a:ext cx="5791201" cy="3933825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39D661-459F-647C-DC2D-97DBF93CFA72}"/>
              </a:ext>
            </a:extLst>
          </p:cNvPr>
          <p:cNvSpPr txBox="1"/>
          <p:nvPr/>
        </p:nvSpPr>
        <p:spPr>
          <a:xfrm>
            <a:off x="969819" y="2256809"/>
            <a:ext cx="504998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Aptos Display" panose="020B0004020202020204" pitchFamily="34" charset="0"/>
              </a:rPr>
              <a:t>Case library entry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Aptos Display" panose="020B0004020202020204" pitchFamily="34" charset="0"/>
              </a:rPr>
              <a:t>Briefing and Query Lab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Aptos Display" panose="020B0004020202020204" pitchFamily="34" charset="0"/>
              </a:rPr>
              <a:t>Evidence Board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Aptos Display" panose="020B0004020202020204" pitchFamily="34" charset="0"/>
              </a:rPr>
              <a:t>Suspect theory checks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70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45918-2C41-0F60-6EB8-4BE25BE6E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A5C7B87-18EC-FB05-5D1A-D6EF90C1D7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218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D2805-1FE0-C0D1-6ACE-B3D02031B8D2}"/>
              </a:ext>
            </a:extLst>
          </p:cNvPr>
          <p:cNvSpPr txBox="1"/>
          <p:nvPr/>
        </p:nvSpPr>
        <p:spPr>
          <a:xfrm>
            <a:off x="685800" y="431800"/>
            <a:ext cx="10820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ptos" panose="020B0004020202020204" pitchFamily="34" charset="0"/>
              </a:rPr>
              <a:t>Deterministic Local Services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7FC08-8CCE-2827-C03F-5AC194B2B72F}"/>
              </a:ext>
            </a:extLst>
          </p:cNvPr>
          <p:cNvSpPr txBox="1"/>
          <p:nvPr/>
        </p:nvSpPr>
        <p:spPr>
          <a:xfrm>
            <a:off x="1397000" y="1143000"/>
            <a:ext cx="9398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dirty="0">
                <a:solidFill>
                  <a:srgbClr val="E6D7BF"/>
                </a:solidFill>
                <a:latin typeface="Aptos" panose="020B0004020202020204" pitchFamily="34" charset="0"/>
              </a:rPr>
              <a:t>Sequel Detective is a local browser app </a:t>
            </a:r>
          </a:p>
          <a:p>
            <a:pPr algn="ctr"/>
            <a:r>
              <a:rPr lang="en-US" sz="1700" dirty="0">
                <a:solidFill>
                  <a:srgbClr val="E6D7BF"/>
                </a:solidFill>
                <a:latin typeface="Aptos" panose="020B0004020202020204" pitchFamily="34" charset="0"/>
              </a:rPr>
              <a:t>where the backend protects the database and owns correctness.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491084-07F9-CD3B-A6C1-44BDF0DAF3CB}"/>
              </a:ext>
            </a:extLst>
          </p:cNvPr>
          <p:cNvSpPr/>
          <p:nvPr/>
        </p:nvSpPr>
        <p:spPr>
          <a:xfrm>
            <a:off x="889000" y="2032000"/>
            <a:ext cx="3175000" cy="1651000"/>
          </a:xfrm>
          <a:prstGeom prst="roundRect">
            <a:avLst/>
          </a:prstGeom>
          <a:solidFill>
            <a:srgbClr val="E6D7B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FA102-A027-B7EF-9091-7C8CC3BC6516}"/>
              </a:ext>
            </a:extLst>
          </p:cNvPr>
          <p:cNvSpPr txBox="1"/>
          <p:nvPr/>
        </p:nvSpPr>
        <p:spPr>
          <a:xfrm>
            <a:off x="1117600" y="2209800"/>
            <a:ext cx="2717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ptos" panose="020B0004020202020204" pitchFamily="34" charset="0"/>
              </a:rPr>
              <a:t>Student Browser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EAD887-D658-9D6D-C4E7-EA1A0AE2FEB9}"/>
              </a:ext>
            </a:extLst>
          </p:cNvPr>
          <p:cNvSpPr txBox="1"/>
          <p:nvPr/>
        </p:nvSpPr>
        <p:spPr>
          <a:xfrm>
            <a:off x="1117600" y="2667000"/>
            <a:ext cx="27178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dirty="0">
                <a:solidFill>
                  <a:srgbClr val="111111"/>
                </a:solidFill>
                <a:latin typeface="Aptos" panose="020B0004020202020204" pitchFamily="34" charset="0"/>
              </a:rPr>
              <a:t>React + Vite + TypeScript
Case library, briefing, Query Lab, Evidence Board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C406CB-18A8-5977-7038-1A17EFC8D75C}"/>
              </a:ext>
            </a:extLst>
          </p:cNvPr>
          <p:cNvSpPr/>
          <p:nvPr/>
        </p:nvSpPr>
        <p:spPr>
          <a:xfrm>
            <a:off x="4508500" y="1905000"/>
            <a:ext cx="3175000" cy="19050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EE3D4A-04C0-BBBB-4A09-5B964B9AAB6F}"/>
              </a:ext>
            </a:extLst>
          </p:cNvPr>
          <p:cNvSpPr txBox="1"/>
          <p:nvPr/>
        </p:nvSpPr>
        <p:spPr>
          <a:xfrm>
            <a:off x="4737100" y="2082800"/>
            <a:ext cx="2717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111111"/>
                </a:solidFill>
                <a:latin typeface="Aptos" panose="020B0004020202020204" pitchFamily="34" charset="0"/>
              </a:rPr>
              <a:t>Fastify</a:t>
            </a:r>
            <a:r>
              <a:rPr lang="en-US" sz="2000" b="1" dirty="0">
                <a:solidFill>
                  <a:srgbClr val="111111"/>
                </a:solidFill>
                <a:latin typeface="Aptos" panose="020B0004020202020204" pitchFamily="34" charset="0"/>
              </a:rPr>
              <a:t> API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0FF151-0968-5D2A-BCB0-8E94A04DE954}"/>
              </a:ext>
            </a:extLst>
          </p:cNvPr>
          <p:cNvSpPr txBox="1"/>
          <p:nvPr/>
        </p:nvSpPr>
        <p:spPr>
          <a:xfrm>
            <a:off x="4737100" y="2540000"/>
            <a:ext cx="27178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dirty="0">
                <a:solidFill>
                  <a:srgbClr val="111111"/>
                </a:solidFill>
                <a:latin typeface="Aptos" panose="020B0004020202020204" pitchFamily="34" charset="0"/>
              </a:rPr>
              <a:t>Schema metadata
SQL safety validation
Read-only execution
Suspect verification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3A0B4D-F069-F907-306F-60178E1BBCB0}"/>
              </a:ext>
            </a:extLst>
          </p:cNvPr>
          <p:cNvSpPr/>
          <p:nvPr/>
        </p:nvSpPr>
        <p:spPr>
          <a:xfrm>
            <a:off x="8128000" y="2032000"/>
            <a:ext cx="3175000" cy="1651000"/>
          </a:xfrm>
          <a:prstGeom prst="roundRect">
            <a:avLst/>
          </a:prstGeom>
          <a:solidFill>
            <a:srgbClr val="E6D7B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C4EFD1-E4D5-4784-6B61-D65E5EAFDA60}"/>
              </a:ext>
            </a:extLst>
          </p:cNvPr>
          <p:cNvSpPr txBox="1"/>
          <p:nvPr/>
        </p:nvSpPr>
        <p:spPr>
          <a:xfrm>
            <a:off x="8356600" y="2209800"/>
            <a:ext cx="2717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ptos" panose="020B0004020202020204" pitchFamily="34" charset="0"/>
              </a:rPr>
              <a:t>SQL Server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D3C6D4-0E26-6E7F-0334-6CDB0B02E790}"/>
              </a:ext>
            </a:extLst>
          </p:cNvPr>
          <p:cNvSpPr txBox="1"/>
          <p:nvPr/>
        </p:nvSpPr>
        <p:spPr>
          <a:xfrm>
            <a:off x="8356600" y="2667000"/>
            <a:ext cx="2717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Local SequelCityCrimesDB
Authoritative evidence source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9F00CC5-4601-2837-B0D6-2AB66B7CDD82}"/>
              </a:ext>
            </a:extLst>
          </p:cNvPr>
          <p:cNvCxnSpPr/>
          <p:nvPr/>
        </p:nvCxnSpPr>
        <p:spPr>
          <a:xfrm>
            <a:off x="4064000" y="2857500"/>
            <a:ext cx="444500" cy="0"/>
          </a:xfrm>
          <a:prstGeom prst="straightConnector1">
            <a:avLst/>
          </a:prstGeom>
          <a:ln w="38100">
            <a:solidFill>
              <a:srgbClr val="F4D3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960AA77-F198-A09A-2469-F991F25490D2}"/>
              </a:ext>
            </a:extLst>
          </p:cNvPr>
          <p:cNvCxnSpPr/>
          <p:nvPr/>
        </p:nvCxnSpPr>
        <p:spPr>
          <a:xfrm>
            <a:off x="7683500" y="2857500"/>
            <a:ext cx="444500" cy="0"/>
          </a:xfrm>
          <a:prstGeom prst="straightConnector1">
            <a:avLst/>
          </a:prstGeom>
          <a:ln w="38100">
            <a:solidFill>
              <a:srgbClr val="F4D38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6ACFCA1-2B9E-5667-0BEE-26F3013C815F}"/>
              </a:ext>
            </a:extLst>
          </p:cNvPr>
          <p:cNvSpPr/>
          <p:nvPr/>
        </p:nvSpPr>
        <p:spPr>
          <a:xfrm>
            <a:off x="3086100" y="4508500"/>
            <a:ext cx="6019800" cy="1435095"/>
          </a:xfrm>
          <a:prstGeom prst="roundRect">
            <a:avLst/>
          </a:prstGeom>
          <a:solidFill>
            <a:srgbClr val="2F4A33"/>
          </a:solidFill>
          <a:ln w="28575">
            <a:solidFill>
              <a:srgbClr val="6AAA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1C4F27-ECF5-38E1-5658-A72A77B6F601}"/>
              </a:ext>
            </a:extLst>
          </p:cNvPr>
          <p:cNvSpPr txBox="1"/>
          <p:nvPr/>
        </p:nvSpPr>
        <p:spPr>
          <a:xfrm>
            <a:off x="3283675" y="4686301"/>
            <a:ext cx="567581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ptos" panose="020B0004020202020204" pitchFamily="34" charset="0"/>
              </a:rPr>
              <a:t>Local Runtime Boundary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09CDC3-2AED-21F1-EA74-4C6E70B619CB}"/>
              </a:ext>
            </a:extLst>
          </p:cNvPr>
          <p:cNvSpPr txBox="1"/>
          <p:nvPr/>
        </p:nvSpPr>
        <p:spPr>
          <a:xfrm>
            <a:off x="3283675" y="5143501"/>
            <a:ext cx="567581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Runs on localhost. No cloud service, no runtime AI dependency, and no direct frontend database access.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3BBB58-7FF5-8372-3A32-FACE331A8810}"/>
              </a:ext>
            </a:extLst>
          </p:cNvPr>
          <p:cNvCxnSpPr/>
          <p:nvPr/>
        </p:nvCxnSpPr>
        <p:spPr>
          <a:xfrm>
            <a:off x="6096000" y="3810000"/>
            <a:ext cx="0" cy="698500"/>
          </a:xfrm>
          <a:prstGeom prst="straightConnector1">
            <a:avLst/>
          </a:prstGeom>
          <a:ln w="38100">
            <a:solidFill>
              <a:srgbClr val="6AAA8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174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ECFA-EDB3-6389-F893-330B9B8E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54330"/>
            <a:ext cx="9905998" cy="874395"/>
          </a:xfrm>
        </p:spPr>
        <p:txBody>
          <a:bodyPr>
            <a:normAutofit/>
          </a:bodyPr>
          <a:lstStyle/>
          <a:p>
            <a:r>
              <a:rPr lang="en-US" sz="4000" b="1" cap="none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</a:rPr>
              <a:t>Backend Authority Keeps The Lesson Fair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60AB7A-2386-7965-3A5E-F2CC721C1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620" y="3760458"/>
            <a:ext cx="2933967" cy="2639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200BB7-2090-726F-9104-5A0D50C5A7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737" y="1506677"/>
            <a:ext cx="2933967" cy="24694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29030E-A9D5-E0F4-B1BA-90263DF7FE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633" y="3760458"/>
            <a:ext cx="2656930" cy="263986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5A42C7-7A87-BF59-3642-83C828DB789A}"/>
              </a:ext>
            </a:extLst>
          </p:cNvPr>
          <p:cNvSpPr/>
          <p:nvPr/>
        </p:nvSpPr>
        <p:spPr>
          <a:xfrm>
            <a:off x="6523477" y="1228726"/>
            <a:ext cx="4905327" cy="470608"/>
          </a:xfrm>
          <a:prstGeom prst="roundRect">
            <a:avLst/>
          </a:prstGeom>
          <a:gradFill>
            <a:gsLst>
              <a:gs pos="100000">
                <a:schemeClr val="tx1">
                  <a:lumMod val="65000"/>
                </a:schemeClr>
              </a:gs>
              <a:gs pos="0">
                <a:srgbClr val="7EB2CC"/>
              </a:gs>
            </a:gsLst>
            <a:lin ang="5400000" scaled="1"/>
          </a:gra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kern="10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Infrastructure</a:t>
            </a: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524AEE-6E26-A066-6C62-C7EA8E604C23}"/>
              </a:ext>
            </a:extLst>
          </p:cNvPr>
          <p:cNvSpPr/>
          <p:nvPr/>
        </p:nvSpPr>
        <p:spPr>
          <a:xfrm>
            <a:off x="6519691" y="3278193"/>
            <a:ext cx="4905327" cy="469668"/>
          </a:xfrm>
          <a:prstGeom prst="roundRect">
            <a:avLst/>
          </a:prstGeom>
          <a:gradFill>
            <a:gsLst>
              <a:gs pos="100000">
                <a:schemeClr val="tx1">
                  <a:lumMod val="65000"/>
                </a:schemeClr>
              </a:gs>
              <a:gs pos="0">
                <a:srgbClr val="7EB2CC"/>
              </a:gs>
            </a:gsLst>
            <a:lin ang="5400000" scaled="1"/>
          </a:gra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kern="10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Deterministic Services</a:t>
            </a: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3C3028-3BAC-8591-F042-98A562E472E2}"/>
              </a:ext>
            </a:extLst>
          </p:cNvPr>
          <p:cNvSpPr/>
          <p:nvPr/>
        </p:nvSpPr>
        <p:spPr>
          <a:xfrm>
            <a:off x="6636644" y="5496792"/>
            <a:ext cx="4905327" cy="1006878"/>
          </a:xfrm>
          <a:prstGeom prst="roundRect">
            <a:avLst/>
          </a:prstGeom>
          <a:gradFill>
            <a:gsLst>
              <a:gs pos="100000">
                <a:schemeClr val="tx1">
                  <a:lumMod val="65000"/>
                </a:schemeClr>
              </a:gs>
              <a:gs pos="0">
                <a:srgbClr val="7EB2CC"/>
              </a:gs>
            </a:gsLst>
            <a:lin ang="5400000" scaled="1"/>
          </a:gra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kern="100">
                <a:solidFill>
                  <a:schemeClr val="bg1"/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Frontend never determines correctness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5913B4-FB40-CEED-2CA0-07D04CB38E8E}"/>
              </a:ext>
            </a:extLst>
          </p:cNvPr>
          <p:cNvSpPr txBox="1"/>
          <p:nvPr/>
        </p:nvSpPr>
        <p:spPr>
          <a:xfrm>
            <a:off x="6523476" y="1849582"/>
            <a:ext cx="49053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Aptos Display" panose="020B0004020202020204" pitchFamily="34" charset="0"/>
              </a:rPr>
              <a:t>Localhost API</a:t>
            </a:r>
            <a:endParaRPr lang="en-US"/>
          </a:p>
          <a:p>
            <a:r>
              <a:rPr lang="en-US" sz="2400" b="1">
                <a:latin typeface="Aptos Display" panose="020B0004020202020204" pitchFamily="34" charset="0"/>
              </a:rPr>
              <a:t>SQL Server database</a:t>
            </a:r>
            <a:endParaRPr lang="en-US"/>
          </a:p>
          <a:p>
            <a:r>
              <a:rPr lang="en-US" sz="2400" b="1">
                <a:latin typeface="Aptos Display" panose="020B0004020202020204" pitchFamily="34" charset="0"/>
              </a:rPr>
              <a:t>Schema metadata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D298CB-98E6-2F1B-3BA0-6FDFE6242837}"/>
              </a:ext>
            </a:extLst>
          </p:cNvPr>
          <p:cNvSpPr txBox="1"/>
          <p:nvPr/>
        </p:nvSpPr>
        <p:spPr>
          <a:xfrm>
            <a:off x="6523476" y="3747861"/>
            <a:ext cx="49015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Aptos Display" panose="020B0004020202020204" pitchFamily="34" charset="0"/>
              </a:rPr>
              <a:t>SQL Safety Service</a:t>
            </a:r>
            <a:endParaRPr lang="en-US"/>
          </a:p>
          <a:p>
            <a:r>
              <a:rPr lang="en-US" sz="2400">
                <a:latin typeface="Aptos Display" panose="020B0004020202020204" pitchFamily="34" charset="0"/>
              </a:rPr>
              <a:t>Read-only Query Execution</a:t>
            </a:r>
            <a:endParaRPr lang="en-US"/>
          </a:p>
          <a:p>
            <a:r>
              <a:rPr lang="en-US" sz="2400">
                <a:latin typeface="Aptos Display" panose="020B0004020202020204" pitchFamily="34" charset="0"/>
              </a:rPr>
              <a:t>Database-backed Suspect Verification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8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3634115-C26C-F7E1-5A5B-1F333DA163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218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192A0-DBE4-E203-58E7-50BAF6A11B4F}"/>
              </a:ext>
            </a:extLst>
          </p:cNvPr>
          <p:cNvSpPr txBox="1"/>
          <p:nvPr/>
        </p:nvSpPr>
        <p:spPr>
          <a:xfrm>
            <a:off x="685800" y="381000"/>
            <a:ext cx="10820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Students Learn By Following Evidence, Not By Guessing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6AE1F0-65F0-E401-9C24-230C43D5B997}"/>
              </a:ext>
            </a:extLst>
          </p:cNvPr>
          <p:cNvSpPr txBox="1"/>
          <p:nvPr/>
        </p:nvSpPr>
        <p:spPr>
          <a:xfrm>
            <a:off x="2336800" y="1092200"/>
            <a:ext cx="711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dirty="0">
                <a:solidFill>
                  <a:srgbClr val="E6D7BF"/>
                </a:solidFill>
                <a:latin typeface="Aptos" panose="020B0004020202020204" pitchFamily="34" charset="0"/>
              </a:rPr>
              <a:t>Every step asks the learner to form a question, run a safe query, read the returned rows, and decide what the evidence supports.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0F8531D-4F7C-3B1A-026B-5A558708A713}"/>
              </a:ext>
            </a:extLst>
          </p:cNvPr>
          <p:cNvSpPr/>
          <p:nvPr/>
        </p:nvSpPr>
        <p:spPr>
          <a:xfrm>
            <a:off x="812800" y="2032000"/>
            <a:ext cx="3048000" cy="14224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CEB84F-45FA-B96B-29E8-1B2D9393895A}"/>
              </a:ext>
            </a:extLst>
          </p:cNvPr>
          <p:cNvSpPr txBox="1"/>
          <p:nvPr/>
        </p:nvSpPr>
        <p:spPr>
          <a:xfrm>
            <a:off x="1041400" y="2209800"/>
            <a:ext cx="2590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ptos" panose="020B0004020202020204" pitchFamily="34" charset="0"/>
              </a:rPr>
              <a:t>1. Read The Case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E655D1-7C7A-988D-D13E-B375AE610917}"/>
              </a:ext>
            </a:extLst>
          </p:cNvPr>
          <p:cNvSpPr txBox="1"/>
          <p:nvPr/>
        </p:nvSpPr>
        <p:spPr>
          <a:xfrm>
            <a:off x="1041400" y="2667000"/>
            <a:ext cx="2590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dirty="0">
                <a:solidFill>
                  <a:srgbClr val="111111"/>
                </a:solidFill>
                <a:latin typeface="Aptos" panose="020B0004020202020204" pitchFamily="34" charset="0"/>
              </a:rPr>
              <a:t>Briefing gives the investigation context.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BAAF1D2-7E0B-3AB2-2318-15A667E91C2E}"/>
              </a:ext>
            </a:extLst>
          </p:cNvPr>
          <p:cNvSpPr/>
          <p:nvPr/>
        </p:nvSpPr>
        <p:spPr>
          <a:xfrm>
            <a:off x="4445000" y="2032000"/>
            <a:ext cx="3048000" cy="14224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E71B7A-BC19-C00B-A1D0-E3BA171F58AB}"/>
              </a:ext>
            </a:extLst>
          </p:cNvPr>
          <p:cNvSpPr txBox="1"/>
          <p:nvPr/>
        </p:nvSpPr>
        <p:spPr>
          <a:xfrm>
            <a:off x="4673600" y="2209800"/>
            <a:ext cx="2590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11111"/>
                </a:solidFill>
                <a:latin typeface="Aptos" panose="020B0004020202020204" pitchFamily="34" charset="0"/>
              </a:rPr>
              <a:t>2. Inspect Schema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C09E34-6C6C-5397-DF1A-186F75065597}"/>
              </a:ext>
            </a:extLst>
          </p:cNvPr>
          <p:cNvSpPr txBox="1"/>
          <p:nvPr/>
        </p:nvSpPr>
        <p:spPr>
          <a:xfrm>
            <a:off x="4673600" y="2667000"/>
            <a:ext cx="2590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dirty="0">
                <a:solidFill>
                  <a:srgbClr val="111111"/>
                </a:solidFill>
                <a:latin typeface="Aptos" panose="020B0004020202020204" pitchFamily="34" charset="0"/>
              </a:rPr>
              <a:t>Tables and relationships suggest where to look.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320B62F-918E-C0F0-B4B9-D4A4745563E2}"/>
              </a:ext>
            </a:extLst>
          </p:cNvPr>
          <p:cNvSpPr/>
          <p:nvPr/>
        </p:nvSpPr>
        <p:spPr>
          <a:xfrm>
            <a:off x="8077200" y="2032000"/>
            <a:ext cx="3048000" cy="14224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927AB7-F2FF-2F22-6402-4EA9985C6D73}"/>
              </a:ext>
            </a:extLst>
          </p:cNvPr>
          <p:cNvSpPr txBox="1"/>
          <p:nvPr/>
        </p:nvSpPr>
        <p:spPr>
          <a:xfrm>
            <a:off x="8305800" y="2209800"/>
            <a:ext cx="2590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11111"/>
                </a:solidFill>
                <a:latin typeface="Aptos" panose="020B0004020202020204" pitchFamily="34" charset="0"/>
              </a:rPr>
              <a:t>3. Write SELECT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744AC4-E610-F5CF-2407-A108D12C2C55}"/>
              </a:ext>
            </a:extLst>
          </p:cNvPr>
          <p:cNvSpPr txBox="1"/>
          <p:nvPr/>
        </p:nvSpPr>
        <p:spPr>
          <a:xfrm>
            <a:off x="8305800" y="2667000"/>
            <a:ext cx="2590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The learner chooses the next evidence question.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4511F8A-6AD7-F3F9-6E70-55195BDE6022}"/>
              </a:ext>
            </a:extLst>
          </p:cNvPr>
          <p:cNvSpPr/>
          <p:nvPr/>
        </p:nvSpPr>
        <p:spPr>
          <a:xfrm>
            <a:off x="8077200" y="4502150"/>
            <a:ext cx="3048000" cy="14224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210B39-85D2-7DF0-8488-9848C5C7CB27}"/>
              </a:ext>
            </a:extLst>
          </p:cNvPr>
          <p:cNvSpPr txBox="1"/>
          <p:nvPr/>
        </p:nvSpPr>
        <p:spPr>
          <a:xfrm>
            <a:off x="8305800" y="4679950"/>
            <a:ext cx="2590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11111"/>
                </a:solidFill>
                <a:latin typeface="Aptos" panose="020B0004020202020204" pitchFamily="34" charset="0"/>
              </a:rPr>
              <a:t>4. Backend Checks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D38BC5-29D3-9DB8-26F4-C27DFC93034E}"/>
              </a:ext>
            </a:extLst>
          </p:cNvPr>
          <p:cNvSpPr txBox="1"/>
          <p:nvPr/>
        </p:nvSpPr>
        <p:spPr>
          <a:xfrm>
            <a:off x="8305800" y="5137150"/>
            <a:ext cx="2590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Unsafe or mutating SQL is blocked.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4992FAE-36FE-A6B9-AA31-F1D2CD330DF1}"/>
              </a:ext>
            </a:extLst>
          </p:cNvPr>
          <p:cNvSpPr/>
          <p:nvPr/>
        </p:nvSpPr>
        <p:spPr>
          <a:xfrm>
            <a:off x="4445000" y="4502150"/>
            <a:ext cx="3048000" cy="14224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5BF893-27D4-DA90-CD55-7BC00559AFD2}"/>
              </a:ext>
            </a:extLst>
          </p:cNvPr>
          <p:cNvSpPr txBox="1"/>
          <p:nvPr/>
        </p:nvSpPr>
        <p:spPr>
          <a:xfrm>
            <a:off x="4673600" y="4679950"/>
            <a:ext cx="2590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11111"/>
                </a:solidFill>
                <a:latin typeface="Aptos" panose="020B0004020202020204" pitchFamily="34" charset="0"/>
              </a:rPr>
              <a:t>5. Interpret Rows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53247C-8D9D-96A4-48EB-54762EE24C75}"/>
              </a:ext>
            </a:extLst>
          </p:cNvPr>
          <p:cNvSpPr txBox="1"/>
          <p:nvPr/>
        </p:nvSpPr>
        <p:spPr>
          <a:xfrm>
            <a:off x="4673600" y="5137150"/>
            <a:ext cx="2590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Results become clues only after reasoning.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93D4B42-C555-95FB-70CD-9E5D6D407288}"/>
              </a:ext>
            </a:extLst>
          </p:cNvPr>
          <p:cNvSpPr/>
          <p:nvPr/>
        </p:nvSpPr>
        <p:spPr>
          <a:xfrm>
            <a:off x="812800" y="4502150"/>
            <a:ext cx="3048000" cy="14224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B5D524-4CB2-84F2-5DE5-3DB806005088}"/>
              </a:ext>
            </a:extLst>
          </p:cNvPr>
          <p:cNvSpPr txBox="1"/>
          <p:nvPr/>
        </p:nvSpPr>
        <p:spPr>
          <a:xfrm>
            <a:off x="1041400" y="4679950"/>
            <a:ext cx="2590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b="1">
                <a:solidFill>
                  <a:srgbClr val="111111"/>
                </a:solidFill>
                <a:latin typeface="Aptos" panose="020B0004020202020204" pitchFamily="34" charset="0"/>
              </a:rPr>
              <a:t>6. Test Theory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E582AF-15E2-892B-9EC1-D9E0E152B5C3}"/>
              </a:ext>
            </a:extLst>
          </p:cNvPr>
          <p:cNvSpPr txBox="1"/>
          <p:nvPr/>
        </p:nvSpPr>
        <p:spPr>
          <a:xfrm>
            <a:off x="1041400" y="5137150"/>
            <a:ext cx="2590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Suspects are verified through the database.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F2F100-590E-FD66-48AF-F629B1917052}"/>
              </a:ext>
            </a:extLst>
          </p:cNvPr>
          <p:cNvCxnSpPr/>
          <p:nvPr/>
        </p:nvCxnSpPr>
        <p:spPr>
          <a:xfrm>
            <a:off x="3860800" y="2730500"/>
            <a:ext cx="584200" cy="0"/>
          </a:xfrm>
          <a:prstGeom prst="straightConnector1">
            <a:avLst/>
          </a:prstGeom>
          <a:ln w="63500">
            <a:solidFill>
              <a:srgbClr val="F4D38F"/>
            </a:solidFill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76A1141-F93E-D8CE-5360-9735714E5D5B}"/>
              </a:ext>
            </a:extLst>
          </p:cNvPr>
          <p:cNvCxnSpPr/>
          <p:nvPr/>
        </p:nvCxnSpPr>
        <p:spPr>
          <a:xfrm>
            <a:off x="7493000" y="2730500"/>
            <a:ext cx="584200" cy="0"/>
          </a:xfrm>
          <a:prstGeom prst="straightConnector1">
            <a:avLst/>
          </a:prstGeom>
          <a:ln w="63500">
            <a:solidFill>
              <a:srgbClr val="F4D38F"/>
            </a:solidFill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FE0D553-DD59-17C6-0F01-8D13A13640CD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9601200" y="3454400"/>
            <a:ext cx="0" cy="1047750"/>
          </a:xfrm>
          <a:prstGeom prst="straightConnector1">
            <a:avLst/>
          </a:prstGeom>
          <a:ln w="63500">
            <a:solidFill>
              <a:srgbClr val="F4D38F"/>
            </a:solidFill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CC59733-E0F5-D439-D5B1-F98DC0138548}"/>
              </a:ext>
            </a:extLst>
          </p:cNvPr>
          <p:cNvCxnSpPr/>
          <p:nvPr/>
        </p:nvCxnSpPr>
        <p:spPr>
          <a:xfrm flipH="1">
            <a:off x="7493000" y="5213350"/>
            <a:ext cx="584200" cy="0"/>
          </a:xfrm>
          <a:prstGeom prst="straightConnector1">
            <a:avLst/>
          </a:prstGeom>
          <a:ln w="63500">
            <a:solidFill>
              <a:srgbClr val="F4D38F"/>
            </a:solidFill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02D43B-A445-0B3C-4EBB-95B609AC6237}"/>
              </a:ext>
            </a:extLst>
          </p:cNvPr>
          <p:cNvCxnSpPr/>
          <p:nvPr/>
        </p:nvCxnSpPr>
        <p:spPr>
          <a:xfrm flipH="1">
            <a:off x="3860800" y="5213350"/>
            <a:ext cx="584200" cy="0"/>
          </a:xfrm>
          <a:prstGeom prst="straightConnector1">
            <a:avLst/>
          </a:prstGeom>
          <a:ln w="63500">
            <a:solidFill>
              <a:srgbClr val="F4D38F"/>
            </a:solidFill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5028F6F-E093-36C3-1A1F-8C1FEB019C64}"/>
              </a:ext>
            </a:extLst>
          </p:cNvPr>
          <p:cNvCxnSpPr>
            <a:cxnSpLocks/>
            <a:stCxn id="41" idx="0"/>
          </p:cNvCxnSpPr>
          <p:nvPr/>
        </p:nvCxnSpPr>
        <p:spPr>
          <a:xfrm flipV="1">
            <a:off x="2336800" y="3454400"/>
            <a:ext cx="0" cy="1047750"/>
          </a:xfrm>
          <a:prstGeom prst="straightConnector1">
            <a:avLst/>
          </a:prstGeom>
          <a:ln w="63500">
            <a:solidFill>
              <a:srgbClr val="F4D38F"/>
            </a:solidFill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1915200-0ACC-DCF8-239C-460672BF6033}"/>
              </a:ext>
            </a:extLst>
          </p:cNvPr>
          <p:cNvSpPr txBox="1"/>
          <p:nvPr/>
        </p:nvSpPr>
        <p:spPr>
          <a:xfrm>
            <a:off x="3632200" y="3737918"/>
            <a:ext cx="4835522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dirty="0">
                <a:solidFill>
                  <a:srgbClr val="99E6FF"/>
                </a:solidFill>
                <a:latin typeface="Aptos" panose="020B0004020202020204" pitchFamily="34" charset="0"/>
              </a:rPr>
              <a:t>Blocked queries return deterministic feedback and send the learner back to revise.</a:t>
            </a:r>
          </a:p>
        </p:txBody>
      </p:sp>
    </p:spTree>
    <p:extLst>
      <p:ext uri="{BB962C8B-B14F-4D97-AF65-F5344CB8AC3E}">
        <p14:creationId xmlns:p14="http://schemas.microsoft.com/office/powerpoint/2010/main" val="252601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312F-325C-C554-BC0C-F63090D8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899964"/>
          </a:xfrm>
        </p:spPr>
        <p:txBody>
          <a:bodyPr>
            <a:normAutofit/>
          </a:bodyPr>
          <a:lstStyle/>
          <a:p>
            <a:r>
              <a:rPr lang="en-US" sz="4000" b="1" cap="none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</a:rPr>
              <a:t>Demonstration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A2F96A5-33D2-EEF8-F9A0-D670532F4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425" y="1619627"/>
            <a:ext cx="3588014" cy="243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175768-9EB3-52B3-54D4-E426674A3E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983" y="1509564"/>
            <a:ext cx="2743165" cy="2639866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2B2D3361-9C5A-0C49-8117-5C9847FD90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016" y="3646957"/>
            <a:ext cx="2933967" cy="2639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87DDF9-23E4-BEB2-5C08-30BF99C8B5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725" y="3646957"/>
            <a:ext cx="3011397" cy="2469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48D6AC-AE8D-D64F-06FD-F4A763E107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90" y="3646957"/>
            <a:ext cx="2656930" cy="26398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A3753C-0317-445E-51FC-10770D453D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125" y="365125"/>
            <a:ext cx="2495501" cy="140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7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85000"/>
                <a:lumOff val="15000"/>
              </a:schemeClr>
            </a:gs>
            <a:gs pos="100000">
              <a:schemeClr val="bg1">
                <a:lumMod val="95000"/>
                <a:lumOff val="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0D477-B213-9988-BDEC-F74D9381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866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57A7-713A-AC8C-CBFF-3DBEEF014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166142F3-F428-A775-D7C1-1CA10445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332" y="383472"/>
            <a:ext cx="6548147" cy="94575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b="1" cap="none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</a:rPr>
              <a:t>AI-Assisted Development Model</a:t>
            </a:r>
            <a:endParaRPr lang="en-US"/>
          </a:p>
          <a:p>
            <a:pPr algn="ctr"/>
            <a:r>
              <a:rPr lang="en-US" sz="2800" b="1" cap="none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</a:rPr>
              <a:t>Human-Governed, SSOT-Driven Engineering</a:t>
            </a:r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7EAE33F-D7F5-3AA3-7F0A-C4C4377F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776" y="1820235"/>
            <a:ext cx="5037260" cy="418141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F9D52E4-E509-293B-09BE-8B904E70565B}"/>
              </a:ext>
            </a:extLst>
          </p:cNvPr>
          <p:cNvSpPr txBox="1"/>
          <p:nvPr/>
        </p:nvSpPr>
        <p:spPr>
          <a:xfrm>
            <a:off x="354095" y="1820235"/>
            <a:ext cx="274472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700" b="1">
                <a:solidFill>
                  <a:srgbClr val="84B2CC"/>
                </a:solidFill>
              </a:rPr>
              <a:t>ChatGPT</a:t>
            </a:r>
            <a:endParaRPr lang="en-US"/>
          </a:p>
          <a:p>
            <a:pPr algn="r"/>
            <a:r>
              <a:rPr lang="en-US" sz="1700" b="1">
                <a:solidFill>
                  <a:srgbClr val="84B2CC"/>
                </a:solidFill>
              </a:rPr>
              <a:t>SSOT reasoning</a:t>
            </a:r>
            <a:endParaRPr lang="en-US"/>
          </a:p>
          <a:p>
            <a:pPr algn="r"/>
            <a:r>
              <a:rPr lang="en-US" sz="1700" b="1">
                <a:solidFill>
                  <a:srgbClr val="84B2CC"/>
                </a:solidFill>
              </a:rPr>
              <a:t>architecture framing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EE67B6-D625-4738-A852-E2FA5193337F}"/>
              </a:ext>
            </a:extLst>
          </p:cNvPr>
          <p:cNvSpPr txBox="1"/>
          <p:nvPr/>
        </p:nvSpPr>
        <p:spPr>
          <a:xfrm>
            <a:off x="211492" y="4985986"/>
            <a:ext cx="2887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700" b="1">
                <a:solidFill>
                  <a:srgbClr val="84B2CC"/>
                </a:solidFill>
              </a:rPr>
              <a:t>Claude Code</a:t>
            </a:r>
            <a:endParaRPr lang="en-US"/>
          </a:p>
          <a:p>
            <a:pPr algn="r"/>
            <a:r>
              <a:rPr lang="en-US" sz="1700" b="1">
                <a:solidFill>
                  <a:srgbClr val="84B2CC"/>
                </a:solidFill>
              </a:rPr>
              <a:t>Scoped implementation</a:t>
            </a:r>
            <a:endParaRPr lang="en-US"/>
          </a:p>
          <a:p>
            <a:pPr algn="r"/>
            <a:r>
              <a:rPr lang="en-US" sz="1700" b="1">
                <a:solidFill>
                  <a:srgbClr val="84B2CC"/>
                </a:solidFill>
              </a:rPr>
              <a:t>deterministic reasoning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E3F6DB-5B53-13BC-FF41-5A4646557876}"/>
              </a:ext>
            </a:extLst>
          </p:cNvPr>
          <p:cNvSpPr txBox="1"/>
          <p:nvPr/>
        </p:nvSpPr>
        <p:spPr>
          <a:xfrm>
            <a:off x="8239991" y="1820234"/>
            <a:ext cx="31261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1">
                <a:solidFill>
                  <a:srgbClr val="84B2CC"/>
                </a:solidFill>
              </a:rPr>
              <a:t>Gemini CLI</a:t>
            </a:r>
            <a:endParaRPr lang="en-US"/>
          </a:p>
          <a:p>
            <a:r>
              <a:rPr lang="en-US" sz="1700" b="1">
                <a:solidFill>
                  <a:srgbClr val="84B2CC"/>
                </a:solidFill>
              </a:rPr>
              <a:t>Repository audit</a:t>
            </a:r>
            <a:endParaRPr lang="en-US"/>
          </a:p>
          <a:p>
            <a:r>
              <a:rPr lang="en-US" sz="1700" b="1">
                <a:solidFill>
                  <a:srgbClr val="84B2CC"/>
                </a:solidFill>
              </a:rPr>
              <a:t>verification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55552B-996C-8343-BD1B-03F63B65D604}"/>
              </a:ext>
            </a:extLst>
          </p:cNvPr>
          <p:cNvSpPr txBox="1"/>
          <p:nvPr/>
        </p:nvSpPr>
        <p:spPr>
          <a:xfrm>
            <a:off x="8239991" y="4985985"/>
            <a:ext cx="33762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b="1">
                <a:solidFill>
                  <a:srgbClr val="84B2CC"/>
                </a:solidFill>
              </a:rPr>
              <a:t>Codex</a:t>
            </a:r>
            <a:endParaRPr lang="en-US"/>
          </a:p>
          <a:p>
            <a:r>
              <a:rPr lang="en-US" sz="1700" b="1">
                <a:solidFill>
                  <a:srgbClr val="84B2CC"/>
                </a:solidFill>
              </a:rPr>
              <a:t>Mechanical edits</a:t>
            </a:r>
            <a:endParaRPr lang="en-US"/>
          </a:p>
          <a:p>
            <a:r>
              <a:rPr lang="en-US" sz="1700" b="1">
                <a:solidFill>
                  <a:srgbClr val="84B2CC"/>
                </a:solidFill>
              </a:rPr>
              <a:t>tests and artifacts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433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62ABB0-1888-1CCE-26AD-9F1737157C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218"/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1E012-EB2F-E536-2D09-12535D373F2C}"/>
              </a:ext>
            </a:extLst>
          </p:cNvPr>
          <p:cNvSpPr txBox="1"/>
          <p:nvPr/>
        </p:nvSpPr>
        <p:spPr>
          <a:xfrm>
            <a:off x="685800" y="431800"/>
            <a:ext cx="10820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Challenges We Faced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3B7C9D-332A-E359-7FC0-5C398D3FDDFE}"/>
              </a:ext>
            </a:extLst>
          </p:cNvPr>
          <p:cNvSpPr txBox="1"/>
          <p:nvPr/>
        </p:nvSpPr>
        <p:spPr>
          <a:xfrm>
            <a:off x="1397000" y="1168400"/>
            <a:ext cx="9398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E6D7BF"/>
                </a:solidFill>
                <a:latin typeface="Aptos" panose="020B0004020202020204" pitchFamily="34" charset="0"/>
              </a:rPr>
              <a:t>The hard parts were not just building screens. The project had to turn a database mystery into a reliable learning experience.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8E33BA-2E77-00FA-66AF-463695BE6ED8}"/>
              </a:ext>
            </a:extLst>
          </p:cNvPr>
          <p:cNvSpPr/>
          <p:nvPr/>
        </p:nvSpPr>
        <p:spPr>
          <a:xfrm>
            <a:off x="889000" y="2159000"/>
            <a:ext cx="4826000" cy="29210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132BD-BE74-7411-59D4-044B50E0E279}"/>
              </a:ext>
            </a:extLst>
          </p:cNvPr>
          <p:cNvSpPr txBox="1"/>
          <p:nvPr/>
        </p:nvSpPr>
        <p:spPr>
          <a:xfrm>
            <a:off x="1117600" y="2336800"/>
            <a:ext cx="4368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111111"/>
                </a:solidFill>
                <a:latin typeface="Aptos" panose="020B0004020202020204" pitchFamily="34" charset="0"/>
              </a:rPr>
              <a:t>Learning Experience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6683A-8ED3-C42B-094D-9DE6C902AB8E}"/>
              </a:ext>
            </a:extLst>
          </p:cNvPr>
          <p:cNvSpPr txBox="1"/>
          <p:nvPr/>
        </p:nvSpPr>
        <p:spPr>
          <a:xfrm>
            <a:off x="1117600" y="2794000"/>
            <a:ext cx="43688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Turning a static murder-mystery assignment into a guided browser flow</a:t>
            </a:r>
          </a:p>
          <a:p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Balancing helpful guidance with student agency</a:t>
            </a:r>
          </a:p>
          <a:p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Making evidence logging useful without auto-solving the case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E35B50B-6A79-ECDD-9DDD-758D0C389360}"/>
              </a:ext>
            </a:extLst>
          </p:cNvPr>
          <p:cNvSpPr/>
          <p:nvPr/>
        </p:nvSpPr>
        <p:spPr>
          <a:xfrm>
            <a:off x="6477000" y="2159000"/>
            <a:ext cx="4826000" cy="2921000"/>
          </a:xfrm>
          <a:prstGeom prst="roundRect">
            <a:avLst/>
          </a:prstGeom>
          <a:solidFill>
            <a:srgbClr val="D8D8D8"/>
          </a:solidFill>
          <a:ln w="28575">
            <a:solidFill>
              <a:srgbClr val="BB75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4832EC-D4E3-57FB-D77D-C72B1140E01B}"/>
              </a:ext>
            </a:extLst>
          </p:cNvPr>
          <p:cNvSpPr txBox="1"/>
          <p:nvPr/>
        </p:nvSpPr>
        <p:spPr>
          <a:xfrm>
            <a:off x="6705600" y="2336800"/>
            <a:ext cx="4368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111111"/>
                </a:solidFill>
                <a:latin typeface="Aptos" panose="020B0004020202020204" pitchFamily="34" charset="0"/>
              </a:rPr>
              <a:t>Engineering Constraints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A231F-D28C-C22C-45B2-892F82CCDC7F}"/>
              </a:ext>
            </a:extLst>
          </p:cNvPr>
          <p:cNvSpPr txBox="1"/>
          <p:nvPr/>
        </p:nvSpPr>
        <p:spPr>
          <a:xfrm>
            <a:off x="6705600" y="2794000"/>
            <a:ext cx="43688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Keeping correctness backend-authoritative</a:t>
            </a:r>
          </a:p>
          <a:p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Blocking unsafe SQL without blocking legitimate investigation queries</a:t>
            </a:r>
          </a:p>
          <a:p>
            <a:r>
              <a:rPr lang="en-US" sz="1500">
                <a:solidFill>
                  <a:srgbClr val="111111"/>
                </a:solidFill>
                <a:latin typeface="Aptos" panose="020B0004020202020204" pitchFamily="34" charset="0"/>
              </a:rPr>
              <a:t>Hardening local SQL Server setup and presentation-day runtime reliability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DEEF01-E0CF-D26F-D38D-7FDCC8798F9F}"/>
              </a:ext>
            </a:extLst>
          </p:cNvPr>
          <p:cNvSpPr txBox="1"/>
          <p:nvPr/>
        </p:nvSpPr>
        <p:spPr>
          <a:xfrm>
            <a:off x="1714500" y="5524500"/>
            <a:ext cx="8763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99E6FF"/>
                </a:solidFill>
                <a:latin typeface="Aptos" panose="020B0004020202020204" pitchFamily="34" charset="0"/>
              </a:rPr>
              <a:t>The solution was disciplined scope: deterministic services first, narrative polish second, optional AI later.</a:t>
            </a:r>
          </a:p>
        </p:txBody>
      </p:sp>
    </p:spTree>
    <p:extLst>
      <p:ext uri="{BB962C8B-B14F-4D97-AF65-F5344CB8AC3E}">
        <p14:creationId xmlns:p14="http://schemas.microsoft.com/office/powerpoint/2010/main" val="2281135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9D0F6-4588-6E65-7053-7150F2D8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B3FD-6FC0-F176-A05A-84E68DDE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65" y="411128"/>
            <a:ext cx="3332955" cy="929300"/>
          </a:xfrm>
        </p:spPr>
        <p:txBody>
          <a:bodyPr anchor="ctr">
            <a:normAutofit/>
          </a:bodyPr>
          <a:lstStyle/>
          <a:p>
            <a:r>
              <a:rPr lang="en-US" sz="4000" b="1" cap="none"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</a:effectLst>
              </a:rPr>
              <a:t>Future Plans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9415C6-4008-475E-67C2-E81611BAF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3356" y="0"/>
            <a:ext cx="7558643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C9C301-2E54-129D-9D73-2D4485461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446539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6C1ACB-D205-9B35-BA49-529C445F9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2336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D13661A-BD4A-D271-96E6-DA8B106FC960}"/>
              </a:ext>
            </a:extLst>
          </p:cNvPr>
          <p:cNvSpPr txBox="1"/>
          <p:nvPr/>
        </p:nvSpPr>
        <p:spPr>
          <a:xfrm>
            <a:off x="5108742" y="3141339"/>
            <a:ext cx="6359163" cy="2838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Expand case library</a:t>
            </a:r>
            <a:endParaRPr lang="en-US" dirty="0"/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Persistent notebook and case state</a:t>
            </a:r>
            <a:endParaRPr lang="en-US" dirty="0"/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Instructor analytics dashboard</a:t>
            </a:r>
            <a:endParaRPr lang="en-US" dirty="0"/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Optional advisory AI layer</a:t>
            </a:r>
            <a:endParaRPr lang="en-US" dirty="0"/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Student package hardening</a:t>
            </a:r>
            <a:endParaRPr lang="en-US" dirty="0"/>
          </a:p>
          <a:p>
            <a:pPr marL="800100" lvl="1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Classroom deployment readiness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13845B-E7B8-C462-4267-EC28E34BB0F1}"/>
              </a:ext>
            </a:extLst>
          </p:cNvPr>
          <p:cNvSpPr/>
          <p:nvPr/>
        </p:nvSpPr>
        <p:spPr>
          <a:xfrm>
            <a:off x="4910369" y="418527"/>
            <a:ext cx="6758620" cy="2507494"/>
          </a:xfrm>
          <a:prstGeom prst="roundRect">
            <a:avLst/>
          </a:prstGeom>
          <a:gradFill>
            <a:gsLst>
              <a:gs pos="100000">
                <a:schemeClr val="tx1">
                  <a:lumMod val="65000"/>
                </a:schemeClr>
              </a:gs>
              <a:gs pos="0">
                <a:srgbClr val="7EB2CC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b="1">
                <a:solidFill>
                  <a:schemeClr val="bg1"/>
                </a:solidFill>
              </a:rPr>
              <a:t>Sequel Detective teaches SQL as evidence-based reasoning, not answer hunting.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BAC50A-9B60-D81E-68CE-F9B021AFB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55" y="1781175"/>
            <a:ext cx="4084769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07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6DF1-27A1-9FAE-7A8B-352A8871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934422"/>
          </a:xfrm>
        </p:spPr>
        <p:txBody>
          <a:bodyPr>
            <a:normAutofit/>
          </a:bodyPr>
          <a:lstStyle/>
          <a:p>
            <a:r>
              <a:rPr lang="en-US" sz="4400"/>
              <a:t>Questions?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E3C5C-6488-F41D-175C-DC518110E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369" y="2353408"/>
            <a:ext cx="4724622" cy="14247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400" dirty="0"/>
              <a:t>Sequel</a:t>
            </a:r>
            <a:endParaRPr lang="en-US" dirty="0"/>
          </a:p>
          <a:p>
            <a:pPr marL="0" indent="0" algn="ctr">
              <a:buNone/>
            </a:pPr>
            <a:r>
              <a:rPr lang="en-US" sz="3400" dirty="0"/>
              <a:t>Detective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4A0987-BEEE-FDC0-B2B2-4646E72E8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2819" y="923926"/>
            <a:ext cx="5526231" cy="3708468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AD400B8B-2C29-9B57-C08A-DBCCB0C437E1}"/>
              </a:ext>
            </a:extLst>
          </p:cNvPr>
          <p:cNvSpPr txBox="1">
            <a:spLocks/>
          </p:cNvSpPr>
          <p:nvPr/>
        </p:nvSpPr>
        <p:spPr>
          <a:xfrm>
            <a:off x="1141413" y="4587576"/>
            <a:ext cx="4282695" cy="135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dirty="0">
                <a:latin typeface="Aptos Display" panose="020B0004020202020204" pitchFamily="34" charset="0"/>
              </a:rPr>
              <a:t>Corey Burk</a:t>
            </a:r>
            <a:endParaRPr lang="en-US" dirty="0"/>
          </a:p>
          <a:p>
            <a:pPr marL="0" indent="0" algn="ctr">
              <a:buNone/>
            </a:pPr>
            <a:r>
              <a:rPr lang="en-US" sz="1500" dirty="0">
                <a:latin typeface="Aptos Display" panose="020B0004020202020204" pitchFamily="34" charset="0"/>
              </a:rPr>
              <a:t>MS Applied Artificial Intelligence</a:t>
            </a:r>
            <a:endParaRPr lang="en-US" dirty="0"/>
          </a:p>
          <a:p>
            <a:pPr marL="0" indent="0" algn="ctr">
              <a:buNone/>
            </a:pPr>
            <a:r>
              <a:rPr lang="en-US" sz="1500" dirty="0">
                <a:latin typeface="Aptos Display" panose="020B0004020202020204" pitchFamily="34" charset="0"/>
              </a:rPr>
              <a:t>Capstone Project - 7/16/2026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7173B7-BDC0-86E7-8C5B-9CE73FD40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370" y="5860732"/>
            <a:ext cx="2769875" cy="692469"/>
          </a:xfrm>
          <a:prstGeom prst="rect">
            <a:avLst/>
          </a:prstGeom>
          <a:effectLst>
            <a:outerShdw dist="12700" dir="2700000" algn="tl" rotWithShape="0">
              <a:schemeClr val="tx1">
                <a:alpha val="40000"/>
              </a:scheme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29AD0-A057-8194-799E-166925FC4A28}"/>
              </a:ext>
            </a:extLst>
          </p:cNvPr>
          <p:cNvSpPr txBox="1"/>
          <p:nvPr/>
        </p:nvSpPr>
        <p:spPr>
          <a:xfrm>
            <a:off x="5922819" y="5004664"/>
            <a:ext cx="57253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/>
              <a:t>SQL practice as a local, evidence-driven investigation.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518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2CB7D-8355-9BB6-8FB9-D0900DAA0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12FC2C-F4D2-6853-824C-B2DA05A36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701" y="1162049"/>
            <a:ext cx="4616966" cy="41148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E57C07-AB2A-707C-B620-36B6A438A4F3}"/>
              </a:ext>
            </a:extLst>
          </p:cNvPr>
          <p:cNvSpPr txBox="1"/>
          <p:nvPr/>
        </p:nvSpPr>
        <p:spPr>
          <a:xfrm>
            <a:off x="1118694" y="714702"/>
            <a:ext cx="7752694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>
                <a:latin typeface="Aptos Display" panose="020B0004020202020204" pitchFamily="34" charset="0"/>
              </a:rPr>
              <a:t>Sequel Detective Statistics</a:t>
            </a:r>
            <a:endParaRPr lang="en-US"/>
          </a:p>
          <a:p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Tracked files: 		671</a:t>
            </a:r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Markdown docs: 		277</a:t>
            </a:r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TypeScript files: 		103</a:t>
            </a:r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Documentation lines: 	62,153</a:t>
            </a:r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TypeScript lines: 		28,851</a:t>
            </a:r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SQL script lines: 		40,976</a:t>
            </a:r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Automated test files: 	45</a:t>
            </a:r>
            <a:endParaRPr lang="en-US"/>
          </a:p>
          <a:p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Build status: PASSING (web + API)</a:t>
            </a:r>
            <a:endParaRPr lang="en-US"/>
          </a:p>
          <a:p>
            <a:r>
              <a:rPr lang="en-US" sz="2600">
                <a:latin typeface="Aptos Display" panose="020B0004020202020204" pitchFamily="34" charset="0"/>
              </a:rPr>
              <a:t>Test status: PASSING (web 179 + API suite)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29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Mesh">
    <a:dk1>
      <a:sysClr val="windowText" lastClr="000000"/>
    </a:dk1>
    <a:lt1>
      <a:sysClr val="window" lastClr="FFFFFF"/>
    </a:lt1>
    <a:dk2>
      <a:srgbClr val="363D46"/>
    </a:dk2>
    <a:lt2>
      <a:srgbClr val="EBEBEB"/>
    </a:lt2>
    <a:accent1>
      <a:srgbClr val="6F6F6F"/>
    </a:accent1>
    <a:accent2>
      <a:srgbClr val="BFBFA5"/>
    </a:accent2>
    <a:accent3>
      <a:srgbClr val="DCD084"/>
    </a:accent3>
    <a:accent4>
      <a:srgbClr val="E7BF5F"/>
    </a:accent4>
    <a:accent5>
      <a:srgbClr val="E9A039"/>
    </a:accent5>
    <a:accent6>
      <a:srgbClr val="CF7133"/>
    </a:accent6>
    <a:hlink>
      <a:srgbClr val="F28943"/>
    </a:hlink>
    <a:folHlink>
      <a:srgbClr val="F1B76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1304</Words>
  <Application>Microsoft Office PowerPoint</Application>
  <PresentationFormat>Widescreen</PresentationFormat>
  <Paragraphs>182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Symbol</vt:lpstr>
      <vt:lpstr>Mesh</vt:lpstr>
      <vt:lpstr>Sequel Detective</vt:lpstr>
      <vt:lpstr>PowerPoint Presentation</vt:lpstr>
      <vt:lpstr>The Learning Core Is Deterministic</vt:lpstr>
      <vt:lpstr>The Student Plays  The Investigation</vt:lpstr>
      <vt:lpstr>PowerPoint Presentation</vt:lpstr>
      <vt:lpstr>Backend Authority Keeps The Lesson Fair</vt:lpstr>
      <vt:lpstr>PowerPoint Presentation</vt:lpstr>
      <vt:lpstr>Demonstration</vt:lpstr>
      <vt:lpstr>PowerPoint Presentation</vt:lpstr>
      <vt:lpstr>AI-Assisted Development Model Human-Governed, SSOT-Driven Engineering</vt:lpstr>
      <vt:lpstr>PowerPoint Presentation</vt:lpstr>
      <vt:lpstr>Future Plans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Corey Burk</dc:creator>
  <cp:lastModifiedBy>Corey Burk</cp:lastModifiedBy>
  <cp:revision>5</cp:revision>
  <dcterms:created xsi:type="dcterms:W3CDTF">2026-03-04T23:03:45Z</dcterms:created>
  <dcterms:modified xsi:type="dcterms:W3CDTF">2026-07-09T19:38:41Z</dcterms:modified>
</cp:coreProperties>
</file>